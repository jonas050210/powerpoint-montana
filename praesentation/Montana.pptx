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Willkommen zu unserer Präsentation über Montana. Montana heißt auch Big Sky Country und Treasure State. In den nächsten fünf Minuten schauen wir auf Lage, Geschichte, Natur, Wirtschaft und Kultur. Zum Schluss gibt es ein kleines Quiz. Erstellt wurde die Präsentation mit Arena.ai Agent.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siehst du den Ablauf. Wir starten mit der Lage, gehen dann durch Geschichte, Natur und Wirtschaft und schauen auf die Kultur. Danach kommen Zahlen, ein Fazit, die Quellen und zum Schluss das Quiz.</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Montana ist der viertgrößte Bundesstaat der USA. Trotzdem leben dort nur etwa drei Menschen pro Quadratkilometer. Die Hauptstadt ist Helena, die größte Stadt Billings. Im Norden grenzt Montana an Kanada. Quelle: Wikipedia Montana, Britannica.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1803 kaufen die USA das Gebiet im Louisiana Purchase. 1858 wird Gold gefunden, und viele Menschen kommen. 1864 entsteht das Montana-Territorium. Am 8. November 1889 wird Montana als 41. Staat aufgenommen. Wichtig: Vorher lebten dort lange indigene Völker. Quelle: Britannica, History.com.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Glacier National Park liegt im Nordwesten Montanas an der kanadischen Grenze. Er wurde 1910 gegründet. Heute gibt es dort 26 benannte Gletscher, um 1850 waren es noch rund 150. Die Gletscher schrumpfen durch den Klimawandel. Das Bild ist KI-generiert. Quelle: glacier-nationalpark.com, Britannica Kids.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Wirtschaft ist stark von Landwirtschaft geprägt: Rinder und Getreide. Dazu kommen Bergbau mit Öl, Gas und Kohle sowie der Tourismus. 2024 kamen 13,7 Millionen Besucher. Das BIP lag 2025 bei rund 82,3 Milliarden Dollar. Das Farmbild stammt vom USGS und ist gemeinfrei. Quelle: Montana Department of Labor &amp; Industry, Wikipedia Montana.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Montana ist Heimat von elf Stammesnationen auf sieben Reservaten. Die Little Shell Band of Chippewa lebt im Land, hat aber kein eigenes Reservat. Die Crow Fair seit 1909 ist eines der größten indigenen Treffen Nordamerikas. Charles M. Russell hat über 2.000 Gemälde geschaffen. Quelle: History.com, Montana Beyond, Wikipedia.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paar Zahlen zum Mitnehmen: rund 1,14 Millionen Einwohner laut Schätzung 2025, rund 1,01 Millionen Acres Nationalpark, 13,7 Millionen Besucher 2024 und seit 1889 der 41. Bundesstaat. Quelle: Wikipedia, glacier-nationalpark.com.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Drei Gedanken zum Schluss: Montana ist weit und dünn besiedelt. Geschichte und Gegenwart hängen eng zusammen. Die Natur ist ein Schatz, den man schützen muss. Big Sky Country eben.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sind alle Quellen. Die Hauptquellen sind Wikipedia, Britannica, History.com und die offiziellen Seiten des Nationalparks sowie der Montana-Behörden. Bilder: Das Farmfoto stammt vom USGS. Titel- und Naturbild sind KI-generiert.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Zum Schluss ein kleines Quiz. Frage 1: Wann wurde Montana aufgenommen? Klick: Lösung 8. November 1889. Frage 2: Die Hauptstadt? Helena. Frage 3: Wie viele benannte Gletscher gibt es heute? 26. Frage 4: Welchen Rang belegt Montana nach Fläche? Platz 4. Jeder Klick blendet die nächste Lösung ein. Danke fürs Zuhören!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pic>
        <p:nvPicPr>
          <p:cNvPr id="2" name="Hintergrund" descr="titel-hintergrund.jpg"/>
          <p:cNvPicPr>
            <a:picLocks noChangeAspect="1"/>
          </p:cNvPicPr>
          <p:nvPr/>
        </p:nvPicPr>
        <p:blipFill>
          <a:blip r:embed="rId2"/>
          <a:srcRect l="389" r="389"/>
          <a:stretch>
            <a:fillRect/>
          </a:stretch>
        </p:blipFill>
        <p:spPr>
          <a:xfrm>
            <a:off x="0" y="0"/>
            <a:ext cx="12191695" cy="6858000"/>
          </a:xfrm>
          <a:prstGeom prst="rect">
            <a:avLst/>
          </a:prstGeom>
        </p:spPr>
      </p:pic>
      <p:sp>
        <p:nvSpPr>
          <p:cNvPr id="3" name="Overlay"/>
          <p:cNvSpPr/>
          <p:nvPr/>
        </p:nvSpPr>
        <p:spPr>
          <a:xfrm>
            <a:off x="0" y="0"/>
            <a:ext cx="12191695" cy="6858000"/>
          </a:xfrm>
          <a:prstGeom prst="rect">
            <a:avLst/>
          </a:prstGeom>
          <a:solidFill>
            <a:srgbClr val="0B1120">
              <a:alpha val="6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Label"/>
          <p:cNvSpPr txBox="1"/>
          <p:nvPr/>
        </p:nvSpPr>
        <p:spPr>
          <a:xfrm>
            <a:off x="822960" y="2011680"/>
            <a:ext cx="10058400" cy="365760"/>
          </a:xfrm>
          <a:prstGeom prst="rect">
            <a:avLst/>
          </a:prstGeom>
          <a:noFill/>
        </p:spPr>
        <p:txBody>
          <a:bodyPr wrap="square" anchor="t" lIns="0" rIns="0" tIns="0" bIns="0">
            <a:spAutoFit/>
          </a:bodyPr>
          <a:lstStyle/>
          <a:p>
            <a:pPr algn="l"/>
            <a:r>
              <a:rPr sz="1400" b="1">
                <a:solidFill>
                  <a:srgbClr val="E9B44C"/>
                </a:solidFill>
                <a:latin typeface="Calibri"/>
              </a:rPr>
              <a:t>PRÄSENTATION · 5 MINUTEN</a:t>
            </a:r>
          </a:p>
        </p:txBody>
      </p:sp>
      <p:sp>
        <p:nvSpPr>
          <p:cNvPr id="5" name="Titel"/>
          <p:cNvSpPr txBox="1"/>
          <p:nvPr/>
        </p:nvSpPr>
        <p:spPr>
          <a:xfrm>
            <a:off x="822960" y="2423160"/>
            <a:ext cx="10515600" cy="1463040"/>
          </a:xfrm>
          <a:prstGeom prst="rect">
            <a:avLst/>
          </a:prstGeom>
          <a:noFill/>
        </p:spPr>
        <p:txBody>
          <a:bodyPr wrap="square" anchor="t" lIns="0" rIns="0" tIns="0" bIns="0">
            <a:spAutoFit/>
          </a:bodyPr>
          <a:lstStyle/>
          <a:p>
            <a:pPr algn="l"/>
            <a:r>
              <a:rPr sz="9600" b="1">
                <a:solidFill>
                  <a:srgbClr val="F5F7FA"/>
                </a:solidFill>
                <a:latin typeface="Calibri"/>
              </a:rPr>
              <a:t>MONTANA</a:t>
            </a:r>
          </a:p>
        </p:txBody>
      </p:sp>
      <p:sp>
        <p:nvSpPr>
          <p:cNvPr id="6" name="Untertitel"/>
          <p:cNvSpPr txBox="1"/>
          <p:nvPr/>
        </p:nvSpPr>
        <p:spPr>
          <a:xfrm>
            <a:off x="822960" y="3931920"/>
            <a:ext cx="10058400" cy="548640"/>
          </a:xfrm>
          <a:prstGeom prst="rect">
            <a:avLst/>
          </a:prstGeom>
          <a:noFill/>
        </p:spPr>
        <p:txBody>
          <a:bodyPr wrap="square" anchor="t" lIns="0" rIns="0" tIns="0" bIns="0">
            <a:spAutoFit/>
          </a:bodyPr>
          <a:lstStyle/>
          <a:p>
            <a:pPr algn="l"/>
            <a:r>
              <a:rPr sz="2400" b="0">
                <a:solidFill>
                  <a:srgbClr val="D7DEEA"/>
                </a:solidFill>
                <a:latin typeface="Calibri"/>
              </a:rPr>
              <a:t>Big Sky Country – der Schatz des Nordwestens</a:t>
            </a:r>
          </a:p>
        </p:txBody>
      </p:sp>
      <p:sp>
        <p:nvSpPr>
          <p:cNvPr id="7" name="Linie"/>
          <p:cNvSpPr/>
          <p:nvPr/>
        </p:nvSpPr>
        <p:spPr>
          <a:xfrm>
            <a:off x="822960" y="4572000"/>
            <a:ext cx="1463040" cy="54864"/>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redit"/>
          <p:cNvSpPr txBox="1"/>
          <p:nvPr/>
        </p:nvSpPr>
        <p:spPr>
          <a:xfrm>
            <a:off x="822960" y="6126480"/>
            <a:ext cx="10058400" cy="365760"/>
          </a:xfrm>
          <a:prstGeom prst="rect">
            <a:avLst/>
          </a:prstGeom>
          <a:noFill/>
        </p:spPr>
        <p:txBody>
          <a:bodyPr wrap="square" anchor="t" lIns="0" rIns="0" tIns="0" bIns="0">
            <a:spAutoFit/>
          </a:bodyPr>
          <a:lstStyle/>
          <a:p>
            <a:pPr algn="l"/>
            <a:r>
              <a:rPr sz="1400" b="0">
                <a:solidFill>
                  <a:srgbClr val="9AA8BF"/>
                </a:solidFill>
                <a:latin typeface="Calibri"/>
              </a:rPr>
              <a:t>Erstellt mit Arena.ai Agent · Oktober 2026</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1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23" fill="hold">
                      <p:stCondLst>
                        <p:cond delay="indefinite"/>
                        <p:cond evt="onBegin" delay="0">
                          <p:tn val="2"/>
                        </p:cond>
                      </p:stCondLst>
                      <p:childTnLst>
                        <p:par>
                          <p:cTn id="24" fill="hold">
                            <p:stCondLst>
                              <p:cond delay="0"/>
                            </p:stCondLst>
                            <p:childTnLst>
                              <p:par>
                                <p:cTn id="6" fill="hold">
                                  <p:stCondLst>
                                    <p:cond delay="0"/>
                                  </p:stCondLst>
                                  <p:childTnLst>
                                    <p:par>
                                      <p:cTn id="3" presetID="2" presetClass="entr" presetSubtype="8"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 calcmode="lin" valueType="num">
                                            <p:cBhvr additive="base">
                                              <p:cTn id="5" dur="700" fill="hold"/>
                                              <p:tgtEl>
                                                <p:spTgt spid="4"/>
                                              </p:tgtEl>
                                              <p:attrNameLst>
                                                <p:attrName>ppt_x</p:attrName>
                                              </p:attrNameLst>
                                            </p:cBhvr>
                                            <p:tavLst>
                                              <p:tav tm="0">
                                                <p:val>
                                                  <p:strVal val="0-#ppt_w/2"/>
                                                </p:val>
                                              </p:tav>
                                              <p:tav tm="100000">
                                                <p:val>
                                                  <p:strVal val="#ppt_x"/>
                                                </p:val>
                                              </p:tav>
                                            </p:tavLst>
                                          </p:anim>
                                        </p:childTnLst>
                                      </p:cTn>
                                    </p:par>
                                  </p:childTnLst>
                                </p:cTn>
                              </p:par>
                              <p:par>
                                <p:cTn id="10" fill="hold">
                                  <p:stCondLst>
                                    <p:cond delay="180"/>
                                  </p:stCondLst>
                                  <p:childTnLst>
                                    <p:par>
                                      <p:cTn id="7" presetID="2" presetClass="entr" presetSubtype="4" fill="hold" grpId="0" nodeType="afterEffect">
                                        <p:stCondLst>
                                          <p:cond delay="0"/>
                                        </p:stCondLst>
                                        <p:childTnLst>
                                          <p:set>
                                            <p:cBhvr>
                                              <p:cTn id="8" dur="1" fill="hold">
                                                <p:stCondLst>
                                                  <p:cond delay="0"/>
                                                </p:stCondLst>
                                              </p:cTn>
                                              <p:tgtEl>
                                                <p:spTgt spid="5"/>
                                              </p:tgtEl>
                                              <p:attrNameLst>
                                                <p:attrName>style.visibility</p:attrName>
                                              </p:attrNameLst>
                                            </p:cBhvr>
                                            <p:to>
                                              <p:strVal val="visible"/>
                                            </p:to>
                                          </p:set>
                                          <p:anim calcmode="lin" valueType="num">
                                            <p:cBhvr additive="base">
                                              <p:cTn id="9" dur="700" fill="hold"/>
                                              <p:tgtEl>
                                                <p:spTgt spid="5"/>
                                              </p:tgtEl>
                                              <p:attrNameLst>
                                                <p:attrName>ppt_y</p:attrName>
                                              </p:attrNameLst>
                                            </p:cBhvr>
                                            <p:tavLst>
                                              <p:tav tm="0">
                                                <p:val>
                                                  <p:strVal val="1+#ppt_h/2"/>
                                                </p:val>
                                              </p:tav>
                                              <p:tav tm="100000">
                                                <p:val>
                                                  <p:strVal val="#ppt_y"/>
                                                </p:val>
                                              </p:tav>
                                            </p:tavLst>
                                          </p:anim>
                                        </p:childTnLst>
                                      </p:cTn>
                                    </p:par>
                                  </p:childTnLst>
                                </p:cTn>
                              </p:par>
                              <p:par>
                                <p:cTn id="14" fill="hold">
                                  <p:stCondLst>
                                    <p:cond delay="360"/>
                                  </p:stCondLst>
                                  <p:childTnLst>
                                    <p:par>
                                      <p:cTn id="11" presetID="2" presetClass="entr" presetSubtype="2" fill="hold" grpId="0" nodeType="after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700" fill="hold"/>
                                              <p:tgtEl>
                                                <p:spTgt spid="6"/>
                                              </p:tgtEl>
                                              <p:attrNameLst>
                                                <p:attrName>ppt_x</p:attrName>
                                              </p:attrNameLst>
                                            </p:cBhvr>
                                            <p:tavLst>
                                              <p:tav tm="0">
                                                <p:val>
                                                  <p:strVal val="1+#ppt_w/2"/>
                                                </p:val>
                                              </p:tav>
                                              <p:tav tm="100000">
                                                <p:val>
                                                  <p:strVal val="#ppt_x"/>
                                                </p:val>
                                              </p:tav>
                                            </p:tavLst>
                                          </p:anim>
                                        </p:childTnLst>
                                      </p:cTn>
                                    </p:par>
                                  </p:childTnLst>
                                </p:cTn>
                              </p:par>
                              <p:par>
                                <p:cTn id="18" fill="hold">
                                  <p:stCondLst>
                                    <p:cond delay="540"/>
                                  </p:stCondLst>
                                  <p:childTnLst>
                                    <p:par>
                                      <p:cTn id="15" presetID="2" presetClass="entr" presetSubtype="8" fill="hold" grpId="0" nodeType="afterEffect">
                                        <p:stCondLst>
                                          <p:cond delay="0"/>
                                        </p:stCondLst>
                                        <p:childTnLst>
                                          <p:set>
                                            <p:cBhvr>
                                              <p:cTn id="16" dur="1" fill="hold">
                                                <p:stCondLst>
                                                  <p:cond delay="0"/>
                                                </p:stCondLst>
                                              </p:cTn>
                                              <p:tgtEl>
                                                <p:spTgt spid="7"/>
                                              </p:tgtEl>
                                              <p:attrNameLst>
                                                <p:attrName>style.visibility</p:attrName>
                                              </p:attrNameLst>
                                            </p:cBhvr>
                                            <p:to>
                                              <p:strVal val="visible"/>
                                            </p:to>
                                          </p:set>
                                          <p:anim calcmode="lin" valueType="num">
                                            <p:cBhvr additive="base">
                                              <p:cTn id="17" dur="700" fill="hold"/>
                                              <p:tgtEl>
                                                <p:spTgt spid="7"/>
                                              </p:tgtEl>
                                              <p:attrNameLst>
                                                <p:attrName>ppt_x</p:attrName>
                                              </p:attrNameLst>
                                            </p:cBhvr>
                                            <p:tavLst>
                                              <p:tav tm="0">
                                                <p:val>
                                                  <p:strVal val="0-#ppt_w/2"/>
                                                </p:val>
                                              </p:tav>
                                              <p:tav tm="100000">
                                                <p:val>
                                                  <p:strVal val="#ppt_x"/>
                                                </p:val>
                                              </p:tav>
                                            </p:tavLst>
                                          </p:anim>
                                        </p:childTnLst>
                                      </p:cTn>
                                    </p:par>
                                  </p:childTnLst>
                                </p:cTn>
                              </p:par>
                              <p:par>
                                <p:cTn id="22" fill="hold">
                                  <p:stCondLst>
                                    <p:cond delay="720"/>
                                  </p:stCondLst>
                                  <p:childTnLst>
                                    <p:par>
                                      <p:cTn id="19" presetID="2" presetClass="entr" presetSubtype="4" fill="hold" grpId="0" nodeType="after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additive="base">
                                              <p:cTn id="21" dur="7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Label"/>
          <p:cNvSpPr txBox="1"/>
          <p:nvPr/>
        </p:nvSpPr>
        <p:spPr>
          <a:xfrm>
            <a:off x="640080" y="411480"/>
            <a:ext cx="8229600" cy="365760"/>
          </a:xfrm>
          <a:prstGeom prst="rect">
            <a:avLst/>
          </a:prstGeom>
          <a:noFill/>
        </p:spPr>
        <p:txBody>
          <a:bodyPr wrap="square" anchor="t" lIns="0" rIns="0" tIns="0" bIns="0">
            <a:spAutoFit/>
          </a:bodyPr>
          <a:lstStyle/>
          <a:p>
            <a:pPr algn="l"/>
            <a:r>
              <a:rPr sz="1200" b="1">
                <a:solidFill>
                  <a:srgbClr val="E9B44C"/>
                </a:solidFill>
                <a:latin typeface="Calibri"/>
              </a:rPr>
              <a:t>01 · ÜBERSICHT</a:t>
            </a:r>
          </a:p>
        </p:txBody>
      </p:sp>
      <p:sp>
        <p:nvSpPr>
          <p:cNvPr id="3" name="Titel"/>
          <p:cNvSpPr txBox="1"/>
          <p:nvPr/>
        </p:nvSpPr>
        <p:spPr>
          <a:xfrm>
            <a:off x="640080" y="731520"/>
            <a:ext cx="10881360" cy="868680"/>
          </a:xfrm>
          <a:prstGeom prst="rect">
            <a:avLst/>
          </a:prstGeom>
          <a:noFill/>
        </p:spPr>
        <p:txBody>
          <a:bodyPr wrap="square" anchor="t" lIns="0" rIns="0" tIns="0" bIns="0">
            <a:spAutoFit/>
          </a:bodyPr>
          <a:lstStyle/>
          <a:p>
            <a:pPr algn="l"/>
            <a:r>
              <a:rPr sz="3600" b="1">
                <a:solidFill>
                  <a:srgbClr val="F5F7FA"/>
                </a:solidFill>
                <a:latin typeface="Calibri"/>
              </a:rPr>
              <a:t>Worum es heute geht</a:t>
            </a:r>
          </a:p>
        </p:txBody>
      </p:sp>
      <p:sp>
        <p:nvSpPr>
          <p:cNvPr id="4" name="Linie"/>
          <p:cNvSpPr/>
          <p:nvPr/>
        </p:nvSpPr>
        <p:spPr>
          <a:xfrm>
            <a:off x="640080" y="1627632"/>
            <a:ext cx="1005840" cy="45720"/>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usszeile"/>
          <p:cNvSpPr txBox="1"/>
          <p:nvPr/>
        </p:nvSpPr>
        <p:spPr>
          <a:xfrm>
            <a:off x="640080" y="6355080"/>
            <a:ext cx="5486400" cy="274320"/>
          </a:xfrm>
          <a:prstGeom prst="rect">
            <a:avLst/>
          </a:prstGeom>
          <a:noFill/>
        </p:spPr>
        <p:txBody>
          <a:bodyPr wrap="square" anchor="t" lIns="0" rIns="0" tIns="0" bIns="0">
            <a:spAutoFit/>
          </a:bodyPr>
          <a:lstStyle/>
          <a:p>
            <a:pPr algn="l"/>
            <a:r>
              <a:rPr sz="1000" b="0">
                <a:solidFill>
                  <a:srgbClr val="9AA8BF"/>
                </a:solidFill>
                <a:latin typeface="Calibri"/>
              </a:rPr>
              <a:t>Montana · Präsentation</a:t>
            </a:r>
          </a:p>
        </p:txBody>
      </p:sp>
      <p:sp>
        <p:nvSpPr>
          <p:cNvPr id="6" name="Seitenzahl"/>
          <p:cNvSpPr txBox="1"/>
          <p:nvPr/>
        </p:nvSpPr>
        <p:spPr>
          <a:xfrm>
            <a:off x="10881360" y="6355080"/>
            <a:ext cx="685800" cy="274320"/>
          </a:xfrm>
          <a:prstGeom prst="rect">
            <a:avLst/>
          </a:prstGeom>
          <a:noFill/>
        </p:spPr>
        <p:txBody>
          <a:bodyPr wrap="square" anchor="t" lIns="0" rIns="0" tIns="0" bIns="0">
            <a:spAutoFit/>
          </a:bodyPr>
          <a:lstStyle/>
          <a:p>
            <a:pPr algn="r"/>
            <a:r>
              <a:rPr sz="1000" b="0">
                <a:solidFill>
                  <a:srgbClr val="9AA8BF"/>
                </a:solidFill>
                <a:latin typeface="Calibri"/>
              </a:rPr>
              <a:t>2</a:t>
            </a:r>
          </a:p>
        </p:txBody>
      </p:sp>
      <p:sp>
        <p:nvSpPr>
          <p:cNvPr id="7" name="Karte1"/>
          <p:cNvSpPr/>
          <p:nvPr/>
        </p:nvSpPr>
        <p:spPr>
          <a:xfrm>
            <a:off x="640080" y="2103120"/>
            <a:ext cx="3474720" cy="1828800"/>
          </a:xfrm>
          <a:prstGeom prst="roundRect">
            <a:avLst>
              <a:gd name="adj" fmla="val 8000"/>
            </a:avLst>
          </a:prstGeom>
          <a:solidFill>
            <a:srgbClr val="141E3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37160" bIns="137160"/>
          <a:lstStyle/>
          <a:p>
            <a:pPr algn="l">
              <a:spcAft>
                <a:spcPts val="400"/>
              </a:spcAft>
            </a:pPr>
            <a:r>
              <a:rPr sz="2600" b="1">
                <a:solidFill>
                  <a:srgbClr val="E9B44C"/>
                </a:solidFill>
                <a:latin typeface="Calibri"/>
              </a:rPr>
              <a:t>01</a:t>
            </a:r>
          </a:p>
          <a:p>
            <a:pPr algn="l">
              <a:spcAft>
                <a:spcPts val="400"/>
              </a:spcAft>
            </a:pPr>
            <a:r>
              <a:rPr sz="2200" b="1">
                <a:solidFill>
                  <a:srgbClr val="F5F7FA"/>
                </a:solidFill>
                <a:latin typeface="Calibri"/>
              </a:rPr>
              <a:t>Lage</a:t>
            </a:r>
          </a:p>
          <a:p>
            <a:pPr algn="l"/>
            <a:r>
              <a:rPr sz="1400" b="0">
                <a:solidFill>
                  <a:srgbClr val="9AA8BF"/>
                </a:solidFill>
                <a:latin typeface="Calibri"/>
              </a:rPr>
              <a:t>Wo liegt Montana, und wie groß ist es?</a:t>
            </a:r>
          </a:p>
        </p:txBody>
      </p:sp>
      <p:sp>
        <p:nvSpPr>
          <p:cNvPr id="8" name="Karte2"/>
          <p:cNvSpPr/>
          <p:nvPr/>
        </p:nvSpPr>
        <p:spPr>
          <a:xfrm>
            <a:off x="4389120" y="2103120"/>
            <a:ext cx="3474720" cy="1828800"/>
          </a:xfrm>
          <a:prstGeom prst="roundRect">
            <a:avLst>
              <a:gd name="adj" fmla="val 8000"/>
            </a:avLst>
          </a:prstGeom>
          <a:solidFill>
            <a:srgbClr val="141E3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37160" bIns="137160"/>
          <a:lstStyle/>
          <a:p>
            <a:pPr algn="l">
              <a:spcAft>
                <a:spcPts val="400"/>
              </a:spcAft>
            </a:pPr>
            <a:r>
              <a:rPr sz="2600" b="1">
                <a:solidFill>
                  <a:srgbClr val="E9B44C"/>
                </a:solidFill>
                <a:latin typeface="Calibri"/>
              </a:rPr>
              <a:t>02</a:t>
            </a:r>
          </a:p>
          <a:p>
            <a:pPr algn="l">
              <a:spcAft>
                <a:spcPts val="400"/>
              </a:spcAft>
            </a:pPr>
            <a:r>
              <a:rPr sz="2200" b="1">
                <a:solidFill>
                  <a:srgbClr val="F5F7FA"/>
                </a:solidFill>
                <a:latin typeface="Calibri"/>
              </a:rPr>
              <a:t>Geschichte</a:t>
            </a:r>
          </a:p>
          <a:p>
            <a:pPr algn="l"/>
            <a:r>
              <a:rPr sz="1400" b="0">
                <a:solidFill>
                  <a:srgbClr val="9AA8BF"/>
                </a:solidFill>
                <a:latin typeface="Calibri"/>
              </a:rPr>
              <a:t>Vom Goldrausch zum 41. Staat</a:t>
            </a:r>
          </a:p>
        </p:txBody>
      </p:sp>
      <p:sp>
        <p:nvSpPr>
          <p:cNvPr id="9" name="Karte3"/>
          <p:cNvSpPr/>
          <p:nvPr/>
        </p:nvSpPr>
        <p:spPr>
          <a:xfrm>
            <a:off x="8138159" y="2103120"/>
            <a:ext cx="3474720" cy="1828800"/>
          </a:xfrm>
          <a:prstGeom prst="roundRect">
            <a:avLst>
              <a:gd name="adj" fmla="val 8000"/>
            </a:avLst>
          </a:prstGeom>
          <a:solidFill>
            <a:srgbClr val="141E3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37160" bIns="137160"/>
          <a:lstStyle/>
          <a:p>
            <a:pPr algn="l">
              <a:spcAft>
                <a:spcPts val="400"/>
              </a:spcAft>
            </a:pPr>
            <a:r>
              <a:rPr sz="2600" b="1">
                <a:solidFill>
                  <a:srgbClr val="E9B44C"/>
                </a:solidFill>
                <a:latin typeface="Calibri"/>
              </a:rPr>
              <a:t>03</a:t>
            </a:r>
          </a:p>
          <a:p>
            <a:pPr algn="l">
              <a:spcAft>
                <a:spcPts val="400"/>
              </a:spcAft>
            </a:pPr>
            <a:r>
              <a:rPr sz="2200" b="1">
                <a:solidFill>
                  <a:srgbClr val="F5F7FA"/>
                </a:solidFill>
                <a:latin typeface="Calibri"/>
              </a:rPr>
              <a:t>Natur</a:t>
            </a:r>
          </a:p>
          <a:p>
            <a:pPr algn="l"/>
            <a:r>
              <a:rPr sz="1400" b="0">
                <a:solidFill>
                  <a:srgbClr val="9AA8BF"/>
                </a:solidFill>
                <a:latin typeface="Calibri"/>
              </a:rPr>
              <a:t>Glacier National Park und seine Gletscher</a:t>
            </a:r>
          </a:p>
        </p:txBody>
      </p:sp>
      <p:sp>
        <p:nvSpPr>
          <p:cNvPr id="10" name="Karte4"/>
          <p:cNvSpPr/>
          <p:nvPr/>
        </p:nvSpPr>
        <p:spPr>
          <a:xfrm>
            <a:off x="640080" y="4206240"/>
            <a:ext cx="3474720" cy="1828800"/>
          </a:xfrm>
          <a:prstGeom prst="roundRect">
            <a:avLst>
              <a:gd name="adj" fmla="val 8000"/>
            </a:avLst>
          </a:prstGeom>
          <a:solidFill>
            <a:srgbClr val="141E3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37160" bIns="137160"/>
          <a:lstStyle/>
          <a:p>
            <a:pPr algn="l">
              <a:spcAft>
                <a:spcPts val="400"/>
              </a:spcAft>
            </a:pPr>
            <a:r>
              <a:rPr sz="2600" b="1">
                <a:solidFill>
                  <a:srgbClr val="E9B44C"/>
                </a:solidFill>
                <a:latin typeface="Calibri"/>
              </a:rPr>
              <a:t>04</a:t>
            </a:r>
          </a:p>
          <a:p>
            <a:pPr algn="l">
              <a:spcAft>
                <a:spcPts val="400"/>
              </a:spcAft>
            </a:pPr>
            <a:r>
              <a:rPr sz="2200" b="1">
                <a:solidFill>
                  <a:srgbClr val="F5F7FA"/>
                </a:solidFill>
                <a:latin typeface="Calibri"/>
              </a:rPr>
              <a:t>Wirtschaft</a:t>
            </a:r>
          </a:p>
          <a:p>
            <a:pPr algn="l"/>
            <a:r>
              <a:rPr sz="1400" b="0">
                <a:solidFill>
                  <a:srgbClr val="9AA8BF"/>
                </a:solidFill>
                <a:latin typeface="Calibri"/>
              </a:rPr>
              <a:t>Landwirtschaft, Bergbau und Tourismus</a:t>
            </a:r>
          </a:p>
        </p:txBody>
      </p:sp>
      <p:sp>
        <p:nvSpPr>
          <p:cNvPr id="11" name="Karte5"/>
          <p:cNvSpPr/>
          <p:nvPr/>
        </p:nvSpPr>
        <p:spPr>
          <a:xfrm>
            <a:off x="4389120" y="4206240"/>
            <a:ext cx="3474720" cy="1828800"/>
          </a:xfrm>
          <a:prstGeom prst="roundRect">
            <a:avLst>
              <a:gd name="adj" fmla="val 8000"/>
            </a:avLst>
          </a:prstGeom>
          <a:solidFill>
            <a:srgbClr val="141E3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37160" bIns="137160"/>
          <a:lstStyle/>
          <a:p>
            <a:pPr algn="l">
              <a:spcAft>
                <a:spcPts val="400"/>
              </a:spcAft>
            </a:pPr>
            <a:r>
              <a:rPr sz="2600" b="1">
                <a:solidFill>
                  <a:srgbClr val="E9B44C"/>
                </a:solidFill>
                <a:latin typeface="Calibri"/>
              </a:rPr>
              <a:t>05</a:t>
            </a:r>
          </a:p>
          <a:p>
            <a:pPr algn="l">
              <a:spcAft>
                <a:spcPts val="400"/>
              </a:spcAft>
            </a:pPr>
            <a:r>
              <a:rPr sz="2200" b="1">
                <a:solidFill>
                  <a:srgbClr val="F5F7FA"/>
                </a:solidFill>
                <a:latin typeface="Calibri"/>
              </a:rPr>
              <a:t>Kultur</a:t>
            </a:r>
          </a:p>
          <a:p>
            <a:pPr algn="l"/>
            <a:r>
              <a:rPr sz="1400" b="0">
                <a:solidFill>
                  <a:srgbClr val="9AA8BF"/>
                </a:solidFill>
                <a:latin typeface="Calibri"/>
              </a:rPr>
              <a:t>Menschen, Traditionen und Künstler</a:t>
            </a:r>
          </a:p>
        </p:txBody>
      </p:sp>
      <p:sp>
        <p:nvSpPr>
          <p:cNvPr id="12" name="Karte6"/>
          <p:cNvSpPr/>
          <p:nvPr/>
        </p:nvSpPr>
        <p:spPr>
          <a:xfrm>
            <a:off x="8138159" y="4206240"/>
            <a:ext cx="3474720" cy="1828800"/>
          </a:xfrm>
          <a:prstGeom prst="roundRect">
            <a:avLst>
              <a:gd name="adj" fmla="val 8000"/>
            </a:avLst>
          </a:prstGeom>
          <a:solidFill>
            <a:srgbClr val="141E3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37160" bIns="137160"/>
          <a:lstStyle/>
          <a:p>
            <a:pPr algn="l">
              <a:spcAft>
                <a:spcPts val="400"/>
              </a:spcAft>
            </a:pPr>
            <a:r>
              <a:rPr sz="2600" b="1">
                <a:solidFill>
                  <a:srgbClr val="E9B44C"/>
                </a:solidFill>
                <a:latin typeface="Calibri"/>
              </a:rPr>
              <a:t>06</a:t>
            </a:r>
          </a:p>
          <a:p>
            <a:pPr algn="l">
              <a:spcAft>
                <a:spcPts val="400"/>
              </a:spcAft>
            </a:pPr>
            <a:r>
              <a:rPr sz="2200" b="1">
                <a:solidFill>
                  <a:srgbClr val="F5F7FA"/>
                </a:solidFill>
                <a:latin typeface="Calibri"/>
              </a:rPr>
              <a:t>Quiz</a:t>
            </a:r>
          </a:p>
          <a:p>
            <a:pPr algn="l"/>
            <a:r>
              <a:rPr sz="1400" b="0">
                <a:solidFill>
                  <a:srgbClr val="9AA8BF"/>
                </a:solidFill>
                <a:latin typeface="Calibri"/>
              </a:rPr>
              <a:t>Vier Fragen zum Mitraten</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1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27" fill="hold">
                      <p:stCondLst>
                        <p:cond delay="indefinite"/>
                        <p:cond evt="onBegin" delay="0">
                          <p:tn val="2"/>
                        </p:cond>
                      </p:stCondLst>
                      <p:childTnLst>
                        <p:par>
                          <p:cTn id="28" fill="hold">
                            <p:stCondLst>
                              <p:cond delay="0"/>
                            </p:stCondLst>
                            <p:childTnLst>
                              <p:par>
                                <p:cTn id="6" fill="hold">
                                  <p:stCondLst>
                                    <p:cond delay="0"/>
                                  </p:stCondLst>
                                  <p:childTnLst>
                                    <p:par>
                                      <p:cTn id="3" presetID="2" presetClass="entr" presetSubtype="8" fill="hold" grpId="0" nodeType="afterEffect">
                                        <p:stCondLst>
                                          <p:cond delay="0"/>
                                        </p:stCondLst>
                                        <p:childTnLst>
                                          <p:set>
                                            <p:cBhvr>
                                              <p:cTn id="4" dur="1" fill="hold">
                                                <p:stCondLst>
                                                  <p:cond delay="0"/>
                                                </p:stCondLst>
                                              </p:cTn>
                                              <p:tgtEl>
                                                <p:spTgt spid="7"/>
                                              </p:tgtEl>
                                              <p:attrNameLst>
                                                <p:attrName>style.visibility</p:attrName>
                                              </p:attrNameLst>
                                            </p:cBhvr>
                                            <p:to>
                                              <p:strVal val="visible"/>
                                            </p:to>
                                          </p:set>
                                          <p:anim calcmode="lin" valueType="num">
                                            <p:cBhvr additive="base">
                                              <p:cTn id="5" dur="700" fill="hold"/>
                                              <p:tgtEl>
                                                <p:spTgt spid="7"/>
                                              </p:tgtEl>
                                              <p:attrNameLst>
                                                <p:attrName>ppt_x</p:attrName>
                                              </p:attrNameLst>
                                            </p:cBhvr>
                                            <p:tavLst>
                                              <p:tav tm="0">
                                                <p:val>
                                                  <p:strVal val="0-#ppt_w/2"/>
                                                </p:val>
                                              </p:tav>
                                              <p:tav tm="100000">
                                                <p:val>
                                                  <p:strVal val="#ppt_x"/>
                                                </p:val>
                                              </p:tav>
                                            </p:tavLst>
                                          </p:anim>
                                        </p:childTnLst>
                                      </p:cTn>
                                    </p:par>
                                  </p:childTnLst>
                                </p:cTn>
                              </p:par>
                              <p:par>
                                <p:cTn id="10" fill="hold">
                                  <p:stCondLst>
                                    <p:cond delay="150"/>
                                  </p:stCondLst>
                                  <p:childTnLst>
                                    <p:par>
                                      <p:cTn id="7" presetID="2" presetClass="entr" presetSubtype="1" fill="hold" grpId="0" nodeType="after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700" fill="hold"/>
                                              <p:tgtEl>
                                                <p:spTgt spid="8"/>
                                              </p:tgtEl>
                                              <p:attrNameLst>
                                                <p:attrName>ppt_y</p:attrName>
                                              </p:attrNameLst>
                                            </p:cBhvr>
                                            <p:tavLst>
                                              <p:tav tm="0">
                                                <p:val>
                                                  <p:strVal val="0-#ppt_h/2"/>
                                                </p:val>
                                              </p:tav>
                                              <p:tav tm="100000">
                                                <p:val>
                                                  <p:strVal val="#ppt_y"/>
                                                </p:val>
                                              </p:tav>
                                            </p:tavLst>
                                          </p:anim>
                                        </p:childTnLst>
                                      </p:cTn>
                                    </p:par>
                                  </p:childTnLst>
                                </p:cTn>
                              </p:par>
                              <p:par>
                                <p:cTn id="14" fill="hold">
                                  <p:stCondLst>
                                    <p:cond delay="300"/>
                                  </p:stCondLst>
                                  <p:childTnLst>
                                    <p:par>
                                      <p:cTn id="11" presetID="2" presetClass="entr" presetSubtype="8" fill="hold" grpId="0" nodeType="afterEffect">
                                        <p:stCondLst>
                                          <p:cond delay="0"/>
                                        </p:stCondLst>
                                        <p:childTnLst>
                                          <p:set>
                                            <p:cBhvr>
                                              <p:cTn id="12" dur="1" fill="hold">
                                                <p:stCondLst>
                                                  <p:cond delay="0"/>
                                                </p:stCondLst>
                                              </p:cTn>
                                              <p:tgtEl>
                                                <p:spTgt spid="9"/>
                                              </p:tgtEl>
                                              <p:attrNameLst>
                                                <p:attrName>style.visibility</p:attrName>
                                              </p:attrNameLst>
                                            </p:cBhvr>
                                            <p:to>
                                              <p:strVal val="visible"/>
                                            </p:to>
                                          </p:set>
                                          <p:anim calcmode="lin" valueType="num">
                                            <p:cBhvr additive="base">
                                              <p:cTn id="13" dur="700" fill="hold"/>
                                              <p:tgtEl>
                                                <p:spTgt spid="9"/>
                                              </p:tgtEl>
                                              <p:attrNameLst>
                                                <p:attrName>ppt_x</p:attrName>
                                              </p:attrNameLst>
                                            </p:cBhvr>
                                            <p:tavLst>
                                              <p:tav tm="0">
                                                <p:val>
                                                  <p:strVal val="0-#ppt_w/2"/>
                                                </p:val>
                                              </p:tav>
                                              <p:tav tm="100000">
                                                <p:val>
                                                  <p:strVal val="#ppt_x"/>
                                                </p:val>
                                              </p:tav>
                                            </p:tavLst>
                                          </p:anim>
                                        </p:childTnLst>
                                      </p:cTn>
                                    </p:par>
                                  </p:childTnLst>
                                </p:cTn>
                              </p:par>
                              <p:par>
                                <p:cTn id="18" fill="hold">
                                  <p:stCondLst>
                                    <p:cond delay="450"/>
                                  </p:stCondLst>
                                  <p:childTnLst>
                                    <p:par>
                                      <p:cTn id="15" presetID="2" presetClass="entr" presetSubtype="2" fill="hold" grpId="0" nodeType="after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700" fill="hold"/>
                                              <p:tgtEl>
                                                <p:spTgt spid="10"/>
                                              </p:tgtEl>
                                              <p:attrNameLst>
                                                <p:attrName>ppt_x</p:attrName>
                                              </p:attrNameLst>
                                            </p:cBhvr>
                                            <p:tavLst>
                                              <p:tav tm="0">
                                                <p:val>
                                                  <p:strVal val="1+#ppt_w/2"/>
                                                </p:val>
                                              </p:tav>
                                              <p:tav tm="100000">
                                                <p:val>
                                                  <p:strVal val="#ppt_x"/>
                                                </p:val>
                                              </p:tav>
                                            </p:tavLst>
                                          </p:anim>
                                        </p:childTnLst>
                                      </p:cTn>
                                    </p:par>
                                  </p:childTnLst>
                                </p:cTn>
                              </p:par>
                              <p:par>
                                <p:cTn id="22" fill="hold">
                                  <p:stCondLst>
                                    <p:cond delay="600"/>
                                  </p:stCondLst>
                                  <p:childTnLst>
                                    <p:par>
                                      <p:cTn id="19" presetID="2" presetClass="entr" presetSubtype="4" fill="hold" grpId="0" nodeType="afterEffect">
                                        <p:stCondLst>
                                          <p:cond delay="0"/>
                                        </p:stCondLst>
                                        <p:childTnLst>
                                          <p:set>
                                            <p:cBhvr>
                                              <p:cTn id="20" dur="1" fill="hold">
                                                <p:stCondLst>
                                                  <p:cond delay="0"/>
                                                </p:stCondLst>
                                              </p:cTn>
                                              <p:tgtEl>
                                                <p:spTgt spid="11"/>
                                              </p:tgtEl>
                                              <p:attrNameLst>
                                                <p:attrName>style.visibility</p:attrName>
                                              </p:attrNameLst>
                                            </p:cBhvr>
                                            <p:to>
                                              <p:strVal val="visible"/>
                                            </p:to>
                                          </p:set>
                                          <p:anim calcmode="lin" valueType="num">
                                            <p:cBhvr additive="base">
                                              <p:cTn id="21" dur="700" fill="hold"/>
                                              <p:tgtEl>
                                                <p:spTgt spid="11"/>
                                              </p:tgtEl>
                                              <p:attrNameLst>
                                                <p:attrName>ppt_y</p:attrName>
                                              </p:attrNameLst>
                                            </p:cBhvr>
                                            <p:tavLst>
                                              <p:tav tm="0">
                                                <p:val>
                                                  <p:strVal val="1+#ppt_h/2"/>
                                                </p:val>
                                              </p:tav>
                                              <p:tav tm="100000">
                                                <p:val>
                                                  <p:strVal val="#ppt_y"/>
                                                </p:val>
                                              </p:tav>
                                            </p:tavLst>
                                          </p:anim>
                                        </p:childTnLst>
                                      </p:cTn>
                                    </p:par>
                                  </p:childTnLst>
                                </p:cTn>
                              </p:par>
                              <p:par>
                                <p:cTn id="26" fill="hold">
                                  <p:stCondLst>
                                    <p:cond delay="750"/>
                                  </p:stCondLst>
                                  <p:childTnLst>
                                    <p:par>
                                      <p:cTn id="23" presetID="2" presetClass="entr" presetSubtype="4" fill="hold" grpId="0" nodeType="afterEffect">
                                        <p:stCondLst>
                                          <p:cond delay="0"/>
                                        </p:stCondLst>
                                        <p:childTnLst>
                                          <p:set>
                                            <p:cBhvr>
                                              <p:cTn id="24" dur="1" fill="hold">
                                                <p:stCondLst>
                                                  <p:cond delay="0"/>
                                                </p:stCondLst>
                                              </p:cTn>
                                              <p:tgtEl>
                                                <p:spTgt spid="12"/>
                                              </p:tgtEl>
                                              <p:attrNameLst>
                                                <p:attrName>style.visibility</p:attrName>
                                              </p:attrNameLst>
                                            </p:cBhvr>
                                            <p:to>
                                              <p:strVal val="visible"/>
                                            </p:to>
                                          </p:set>
                                          <p:anim calcmode="lin" valueType="num">
                                            <p:cBhvr additive="base">
                                              <p:cTn id="25" dur="700" fill="hold"/>
                                              <p:tgtEl>
                                                <p:spTgt spid="12"/>
                                              </p:tgtEl>
                                              <p:attrNameLst>
                                                <p:attrName>ppt_y</p:attrName>
                                              </p:attrNameLst>
                                            </p:cBhvr>
                                            <p:tavLst>
                                              <p:tav tm="0">
                                                <p:val>
                                                  <p:strVal val="1+#ppt_h/2"/>
                                                </p:val>
                                              </p:tav>
                                              <p:tav tm="100000">
                                                <p:val>
                                                  <p:strVal val="#ppt_y"/>
                                                </p:val>
                                              </p:tav>
                                            </p:tavLst>
                                          </p:anim>
                                        </p:childTnLst>
                                      </p:cTn>
                                    </p:par>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Label"/>
          <p:cNvSpPr txBox="1"/>
          <p:nvPr/>
        </p:nvSpPr>
        <p:spPr>
          <a:xfrm>
            <a:off x="640080" y="411480"/>
            <a:ext cx="8229600" cy="365760"/>
          </a:xfrm>
          <a:prstGeom prst="rect">
            <a:avLst/>
          </a:prstGeom>
          <a:noFill/>
        </p:spPr>
        <p:txBody>
          <a:bodyPr wrap="square" anchor="t" lIns="0" rIns="0" tIns="0" bIns="0">
            <a:spAutoFit/>
          </a:bodyPr>
          <a:lstStyle/>
          <a:p>
            <a:pPr algn="l"/>
            <a:r>
              <a:rPr sz="1200" b="1">
                <a:solidFill>
                  <a:srgbClr val="E9B44C"/>
                </a:solidFill>
                <a:latin typeface="Calibri"/>
              </a:rPr>
              <a:t>02 · LAGE</a:t>
            </a:r>
          </a:p>
        </p:txBody>
      </p:sp>
      <p:sp>
        <p:nvSpPr>
          <p:cNvPr id="3" name="Titel"/>
          <p:cNvSpPr txBox="1"/>
          <p:nvPr/>
        </p:nvSpPr>
        <p:spPr>
          <a:xfrm>
            <a:off x="640080" y="731520"/>
            <a:ext cx="10881360" cy="868680"/>
          </a:xfrm>
          <a:prstGeom prst="rect">
            <a:avLst/>
          </a:prstGeom>
          <a:noFill/>
        </p:spPr>
        <p:txBody>
          <a:bodyPr wrap="square" anchor="t" lIns="0" rIns="0" tIns="0" bIns="0">
            <a:spAutoFit/>
          </a:bodyPr>
          <a:lstStyle/>
          <a:p>
            <a:pPr algn="l"/>
            <a:r>
              <a:rPr sz="3600" b="1">
                <a:solidFill>
                  <a:srgbClr val="F5F7FA"/>
                </a:solidFill>
                <a:latin typeface="Calibri"/>
              </a:rPr>
              <a:t>Montana im Überblick</a:t>
            </a:r>
          </a:p>
        </p:txBody>
      </p:sp>
      <p:sp>
        <p:nvSpPr>
          <p:cNvPr id="4" name="Linie"/>
          <p:cNvSpPr/>
          <p:nvPr/>
        </p:nvSpPr>
        <p:spPr>
          <a:xfrm>
            <a:off x="640080" y="1627632"/>
            <a:ext cx="1005840" cy="45720"/>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usszeile"/>
          <p:cNvSpPr txBox="1"/>
          <p:nvPr/>
        </p:nvSpPr>
        <p:spPr>
          <a:xfrm>
            <a:off x="640080" y="6355080"/>
            <a:ext cx="5486400" cy="274320"/>
          </a:xfrm>
          <a:prstGeom prst="rect">
            <a:avLst/>
          </a:prstGeom>
          <a:noFill/>
        </p:spPr>
        <p:txBody>
          <a:bodyPr wrap="square" anchor="t" lIns="0" rIns="0" tIns="0" bIns="0">
            <a:spAutoFit/>
          </a:bodyPr>
          <a:lstStyle/>
          <a:p>
            <a:pPr algn="l"/>
            <a:r>
              <a:rPr sz="1000" b="0">
                <a:solidFill>
                  <a:srgbClr val="9AA8BF"/>
                </a:solidFill>
                <a:latin typeface="Calibri"/>
              </a:rPr>
              <a:t>Montana · Präsentation</a:t>
            </a:r>
          </a:p>
        </p:txBody>
      </p:sp>
      <p:sp>
        <p:nvSpPr>
          <p:cNvPr id="6" name="Seitenzahl"/>
          <p:cNvSpPr txBox="1"/>
          <p:nvPr/>
        </p:nvSpPr>
        <p:spPr>
          <a:xfrm>
            <a:off x="10881360" y="6355080"/>
            <a:ext cx="685800" cy="274320"/>
          </a:xfrm>
          <a:prstGeom prst="rect">
            <a:avLst/>
          </a:prstGeom>
          <a:noFill/>
        </p:spPr>
        <p:txBody>
          <a:bodyPr wrap="square" anchor="t" lIns="0" rIns="0" tIns="0" bIns="0">
            <a:spAutoFit/>
          </a:bodyPr>
          <a:lstStyle/>
          <a:p>
            <a:pPr algn="r"/>
            <a:r>
              <a:rPr sz="1000" b="0">
                <a:solidFill>
                  <a:srgbClr val="9AA8BF"/>
                </a:solidFill>
                <a:latin typeface="Calibri"/>
              </a:rPr>
              <a:t>3</a:t>
            </a:r>
          </a:p>
        </p:txBody>
      </p:sp>
      <p:sp>
        <p:nvSpPr>
          <p:cNvPr id="7" name="Grosszahl"/>
          <p:cNvSpPr txBox="1"/>
          <p:nvPr/>
        </p:nvSpPr>
        <p:spPr>
          <a:xfrm>
            <a:off x="640080" y="2194560"/>
            <a:ext cx="4389120" cy="1828800"/>
          </a:xfrm>
          <a:prstGeom prst="rect">
            <a:avLst/>
          </a:prstGeom>
          <a:noFill/>
        </p:spPr>
        <p:txBody>
          <a:bodyPr wrap="square" anchor="t" lIns="0" rIns="0" tIns="0" bIns="0">
            <a:spAutoFit/>
          </a:bodyPr>
          <a:lstStyle/>
          <a:p>
            <a:pPr algn="l"/>
            <a:r>
              <a:rPr sz="13000" b="1">
                <a:solidFill>
                  <a:srgbClr val="E9B44C"/>
                </a:solidFill>
                <a:latin typeface="Calibri"/>
              </a:rPr>
              <a:t>#4</a:t>
            </a:r>
          </a:p>
        </p:txBody>
      </p:sp>
      <p:sp>
        <p:nvSpPr>
          <p:cNvPr id="8" name="Grosszahl_Text"/>
          <p:cNvSpPr txBox="1"/>
          <p:nvPr/>
        </p:nvSpPr>
        <p:spPr>
          <a:xfrm>
            <a:off x="640080" y="4206240"/>
            <a:ext cx="4389120" cy="1097280"/>
          </a:xfrm>
          <a:prstGeom prst="rect">
            <a:avLst/>
          </a:prstGeom>
          <a:noFill/>
        </p:spPr>
        <p:txBody>
          <a:bodyPr wrap="square" anchor="t" lIns="0" rIns="0" tIns="0" bIns="0">
            <a:spAutoFit/>
          </a:bodyPr>
          <a:lstStyle/>
          <a:p>
            <a:pPr algn="l"/>
            <a:r>
              <a:rPr sz="2200" b="0">
                <a:solidFill>
                  <a:srgbClr val="F5F7FA"/>
                </a:solidFill>
                <a:latin typeface="Calibri"/>
              </a:rPr>
              <a:t>viertgrößter US-Bundesstaat nach Fläche</a:t>
            </a:r>
          </a:p>
          <a:p>
            <a:pPr algn="l"/>
            <a:r>
              <a:rPr sz="1600" b="0">
                <a:solidFill>
                  <a:srgbClr val="9AA8BF"/>
                </a:solidFill>
                <a:latin typeface="Calibri"/>
              </a:rPr>
              <a:t>Montana · rund 147.000 Quadratmeilen</a:t>
            </a:r>
          </a:p>
        </p:txBody>
      </p:sp>
      <p:sp>
        <p:nvSpPr>
          <p:cNvPr id="9" name="Zeile1"/>
          <p:cNvSpPr/>
          <p:nvPr/>
        </p:nvSpPr>
        <p:spPr>
          <a:xfrm>
            <a:off x="5669280" y="2194560"/>
            <a:ext cx="5852160" cy="822960"/>
          </a:xfrm>
          <a:prstGeom prst="roundRect">
            <a:avLst>
              <a:gd name="adj" fmla="val 8000"/>
            </a:avLst>
          </a:prstGeom>
          <a:solidFill>
            <a:srgbClr val="141E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37160" bIns="137160"/>
          <a:lstStyle/>
          <a:p>
            <a:pPr algn="l">
              <a:spcAft>
                <a:spcPts val="200"/>
              </a:spcAft>
            </a:pPr>
            <a:r>
              <a:rPr sz="1100" b="1">
                <a:solidFill>
                  <a:srgbClr val="5EC4B6"/>
                </a:solidFill>
                <a:latin typeface="Calibri"/>
              </a:rPr>
              <a:t>HAUPTSTADT</a:t>
            </a:r>
          </a:p>
          <a:p>
            <a:pPr algn="l"/>
            <a:r>
              <a:rPr sz="2000" b="1">
                <a:solidFill>
                  <a:srgbClr val="F5F7FA"/>
                </a:solidFill>
                <a:latin typeface="Calibri"/>
              </a:rPr>
              <a:t>Helena</a:t>
            </a:r>
          </a:p>
        </p:txBody>
      </p:sp>
      <p:sp>
        <p:nvSpPr>
          <p:cNvPr id="10" name="Zeile2"/>
          <p:cNvSpPr/>
          <p:nvPr/>
        </p:nvSpPr>
        <p:spPr>
          <a:xfrm>
            <a:off x="5669280" y="3200400"/>
            <a:ext cx="5852160" cy="822960"/>
          </a:xfrm>
          <a:prstGeom prst="roundRect">
            <a:avLst>
              <a:gd name="adj" fmla="val 8000"/>
            </a:avLst>
          </a:prstGeom>
          <a:solidFill>
            <a:srgbClr val="141E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37160" bIns="137160"/>
          <a:lstStyle/>
          <a:p>
            <a:pPr algn="l">
              <a:spcAft>
                <a:spcPts val="200"/>
              </a:spcAft>
            </a:pPr>
            <a:r>
              <a:rPr sz="1100" b="1">
                <a:solidFill>
                  <a:srgbClr val="5EC4B6"/>
                </a:solidFill>
                <a:latin typeface="Calibri"/>
              </a:rPr>
              <a:t>GRÖSSTE STADT</a:t>
            </a:r>
          </a:p>
          <a:p>
            <a:pPr algn="l"/>
            <a:r>
              <a:rPr sz="2000" b="1">
                <a:solidFill>
                  <a:srgbClr val="F5F7FA"/>
                </a:solidFill>
                <a:latin typeface="Calibri"/>
              </a:rPr>
              <a:t>Billings</a:t>
            </a:r>
          </a:p>
        </p:txBody>
      </p:sp>
      <p:sp>
        <p:nvSpPr>
          <p:cNvPr id="11" name="Zeile3"/>
          <p:cNvSpPr/>
          <p:nvPr/>
        </p:nvSpPr>
        <p:spPr>
          <a:xfrm>
            <a:off x="5669280" y="4206240"/>
            <a:ext cx="5852160" cy="822960"/>
          </a:xfrm>
          <a:prstGeom prst="roundRect">
            <a:avLst>
              <a:gd name="adj" fmla="val 8000"/>
            </a:avLst>
          </a:prstGeom>
          <a:solidFill>
            <a:srgbClr val="141E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37160" bIns="137160"/>
          <a:lstStyle/>
          <a:p>
            <a:pPr algn="l">
              <a:spcAft>
                <a:spcPts val="200"/>
              </a:spcAft>
            </a:pPr>
            <a:r>
              <a:rPr sz="1100" b="1">
                <a:solidFill>
                  <a:srgbClr val="5EC4B6"/>
                </a:solidFill>
                <a:latin typeface="Calibri"/>
              </a:rPr>
              <a:t>DICHTE</a:t>
            </a:r>
          </a:p>
          <a:p>
            <a:pPr algn="l"/>
            <a:r>
              <a:rPr sz="2000" b="1">
                <a:solidFill>
                  <a:srgbClr val="F5F7FA"/>
                </a:solidFill>
                <a:latin typeface="Calibri"/>
              </a:rPr>
              <a:t>nur ca. 3 Einwohner pro km²</a:t>
            </a:r>
          </a:p>
        </p:txBody>
      </p:sp>
      <p:sp>
        <p:nvSpPr>
          <p:cNvPr id="12" name="Zeile4"/>
          <p:cNvSpPr/>
          <p:nvPr/>
        </p:nvSpPr>
        <p:spPr>
          <a:xfrm>
            <a:off x="5669280" y="5212080"/>
            <a:ext cx="5852160" cy="822960"/>
          </a:xfrm>
          <a:prstGeom prst="roundRect">
            <a:avLst>
              <a:gd name="adj" fmla="val 8000"/>
            </a:avLst>
          </a:prstGeom>
          <a:solidFill>
            <a:srgbClr val="141E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37160" bIns="137160"/>
          <a:lstStyle/>
          <a:p>
            <a:pPr algn="l">
              <a:spcAft>
                <a:spcPts val="200"/>
              </a:spcAft>
            </a:pPr>
            <a:r>
              <a:rPr sz="1100" b="1">
                <a:solidFill>
                  <a:srgbClr val="5EC4B6"/>
                </a:solidFill>
                <a:latin typeface="Calibri"/>
              </a:rPr>
              <a:t>NACHBARN</a:t>
            </a:r>
          </a:p>
          <a:p>
            <a:pPr algn="l"/>
            <a:r>
              <a:rPr sz="2000" b="1">
                <a:solidFill>
                  <a:srgbClr val="F5F7FA"/>
                </a:solidFill>
                <a:latin typeface="Calibri"/>
              </a:rPr>
              <a:t>Kanada, ND, SD, WY, ID</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1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27" fill="hold">
                      <p:stCondLst>
                        <p:cond delay="indefinite"/>
                        <p:cond evt="onBegin" delay="0">
                          <p:tn val="2"/>
                        </p:cond>
                      </p:stCondLst>
                      <p:childTnLst>
                        <p:par>
                          <p:cTn id="28" fill="hold">
                            <p:stCondLst>
                              <p:cond delay="0"/>
                            </p:stCondLst>
                            <p:childTnLst>
                              <p:par>
                                <p:cTn id="6" fill="hold">
                                  <p:stCondLst>
                                    <p:cond delay="0"/>
                                  </p:stCondLst>
                                  <p:childTnLst>
                                    <p:par>
                                      <p:cTn id="3" presetID="2" presetClass="entr" presetSubtype="8" fill="hold" grpId="0" nodeType="afterEffect">
                                        <p:stCondLst>
                                          <p:cond delay="0"/>
                                        </p:stCondLst>
                                        <p:childTnLst>
                                          <p:set>
                                            <p:cBhvr>
                                              <p:cTn id="4" dur="1" fill="hold">
                                                <p:stCondLst>
                                                  <p:cond delay="0"/>
                                                </p:stCondLst>
                                              </p:cTn>
                                              <p:tgtEl>
                                                <p:spTgt spid="7"/>
                                              </p:tgtEl>
                                              <p:attrNameLst>
                                                <p:attrName>style.visibility</p:attrName>
                                              </p:attrNameLst>
                                            </p:cBhvr>
                                            <p:to>
                                              <p:strVal val="visible"/>
                                            </p:to>
                                          </p:set>
                                          <p:anim calcmode="lin" valueType="num">
                                            <p:cBhvr additive="base">
                                              <p:cTn id="5" dur="700" fill="hold"/>
                                              <p:tgtEl>
                                                <p:spTgt spid="7"/>
                                              </p:tgtEl>
                                              <p:attrNameLst>
                                                <p:attrName>ppt_x</p:attrName>
                                              </p:attrNameLst>
                                            </p:cBhvr>
                                            <p:tavLst>
                                              <p:tav tm="0">
                                                <p:val>
                                                  <p:strVal val="0-#ppt_w/2"/>
                                                </p:val>
                                              </p:tav>
                                              <p:tav tm="100000">
                                                <p:val>
                                                  <p:strVal val="#ppt_x"/>
                                                </p:val>
                                              </p:tav>
                                            </p:tavLst>
                                          </p:anim>
                                        </p:childTnLst>
                                      </p:cTn>
                                    </p:par>
                                  </p:childTnLst>
                                </p:cTn>
                              </p:par>
                              <p:par>
                                <p:cTn id="10" fill="hold">
                                  <p:stCondLst>
                                    <p:cond delay="160"/>
                                  </p:stCondLst>
                                  <p:childTnLst>
                                    <p:par>
                                      <p:cTn id="7" presetID="2" presetClass="entr" presetSubtype="4" fill="hold" grpId="0" nodeType="after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700" fill="hold"/>
                                              <p:tgtEl>
                                                <p:spTgt spid="8"/>
                                              </p:tgtEl>
                                              <p:attrNameLst>
                                                <p:attrName>ppt_y</p:attrName>
                                              </p:attrNameLst>
                                            </p:cBhvr>
                                            <p:tavLst>
                                              <p:tav tm="0">
                                                <p:val>
                                                  <p:strVal val="1+#ppt_h/2"/>
                                                </p:val>
                                              </p:tav>
                                              <p:tav tm="100000">
                                                <p:val>
                                                  <p:strVal val="#ppt_y"/>
                                                </p:val>
                                              </p:tav>
                                            </p:tavLst>
                                          </p:anim>
                                        </p:childTnLst>
                                      </p:cTn>
                                    </p:par>
                                  </p:childTnLst>
                                </p:cTn>
                              </p:par>
                              <p:par>
                                <p:cTn id="14" fill="hold">
                                  <p:stCondLst>
                                    <p:cond delay="320"/>
                                  </p:stCondLst>
                                  <p:childTnLst>
                                    <p:par>
                                      <p:cTn id="11" presetID="2" presetClass="entr" presetSubtype="2" fill="hold" grpId="0" nodeType="afterEffect">
                                        <p:stCondLst>
                                          <p:cond delay="0"/>
                                        </p:stCondLst>
                                        <p:childTnLst>
                                          <p:set>
                                            <p:cBhvr>
                                              <p:cTn id="12" dur="1" fill="hold">
                                                <p:stCondLst>
                                                  <p:cond delay="0"/>
                                                </p:stCondLst>
                                              </p:cTn>
                                              <p:tgtEl>
                                                <p:spTgt spid="9"/>
                                              </p:tgtEl>
                                              <p:attrNameLst>
                                                <p:attrName>style.visibility</p:attrName>
                                              </p:attrNameLst>
                                            </p:cBhvr>
                                            <p:to>
                                              <p:strVal val="visible"/>
                                            </p:to>
                                          </p:set>
                                          <p:anim calcmode="lin" valueType="num">
                                            <p:cBhvr additive="base">
                                              <p:cTn id="13" dur="700" fill="hold"/>
                                              <p:tgtEl>
                                                <p:spTgt spid="9"/>
                                              </p:tgtEl>
                                              <p:attrNameLst>
                                                <p:attrName>ppt_x</p:attrName>
                                              </p:attrNameLst>
                                            </p:cBhvr>
                                            <p:tavLst>
                                              <p:tav tm="0">
                                                <p:val>
                                                  <p:strVal val="1+#ppt_w/2"/>
                                                </p:val>
                                              </p:tav>
                                              <p:tav tm="100000">
                                                <p:val>
                                                  <p:strVal val="#ppt_x"/>
                                                </p:val>
                                              </p:tav>
                                            </p:tavLst>
                                          </p:anim>
                                        </p:childTnLst>
                                      </p:cTn>
                                    </p:par>
                                  </p:childTnLst>
                                </p:cTn>
                              </p:par>
                              <p:par>
                                <p:cTn id="18" fill="hold">
                                  <p:stCondLst>
                                    <p:cond delay="480"/>
                                  </p:stCondLst>
                                  <p:childTnLst>
                                    <p:par>
                                      <p:cTn id="15" presetID="2" presetClass="entr" presetSubtype="2" fill="hold" grpId="0" nodeType="after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700" fill="hold"/>
                                              <p:tgtEl>
                                                <p:spTgt spid="10"/>
                                              </p:tgtEl>
                                              <p:attrNameLst>
                                                <p:attrName>ppt_x</p:attrName>
                                              </p:attrNameLst>
                                            </p:cBhvr>
                                            <p:tavLst>
                                              <p:tav tm="0">
                                                <p:val>
                                                  <p:strVal val="1+#ppt_w/2"/>
                                                </p:val>
                                              </p:tav>
                                              <p:tav tm="100000">
                                                <p:val>
                                                  <p:strVal val="#ppt_x"/>
                                                </p:val>
                                              </p:tav>
                                            </p:tavLst>
                                          </p:anim>
                                        </p:childTnLst>
                                      </p:cTn>
                                    </p:par>
                                  </p:childTnLst>
                                </p:cTn>
                              </p:par>
                              <p:par>
                                <p:cTn id="22" fill="hold">
                                  <p:stCondLst>
                                    <p:cond delay="640"/>
                                  </p:stCondLst>
                                  <p:childTnLst>
                                    <p:par>
                                      <p:cTn id="19" presetID="2" presetClass="entr" presetSubtype="2" fill="hold" grpId="0" nodeType="afterEffect">
                                        <p:stCondLst>
                                          <p:cond delay="0"/>
                                        </p:stCondLst>
                                        <p:childTnLst>
                                          <p:set>
                                            <p:cBhvr>
                                              <p:cTn id="20" dur="1" fill="hold">
                                                <p:stCondLst>
                                                  <p:cond delay="0"/>
                                                </p:stCondLst>
                                              </p:cTn>
                                              <p:tgtEl>
                                                <p:spTgt spid="11"/>
                                              </p:tgtEl>
                                              <p:attrNameLst>
                                                <p:attrName>style.visibility</p:attrName>
                                              </p:attrNameLst>
                                            </p:cBhvr>
                                            <p:to>
                                              <p:strVal val="visible"/>
                                            </p:to>
                                          </p:set>
                                          <p:anim calcmode="lin" valueType="num">
                                            <p:cBhvr additive="base">
                                              <p:cTn id="21" dur="700" fill="hold"/>
                                              <p:tgtEl>
                                                <p:spTgt spid="11"/>
                                              </p:tgtEl>
                                              <p:attrNameLst>
                                                <p:attrName>ppt_x</p:attrName>
                                              </p:attrNameLst>
                                            </p:cBhvr>
                                            <p:tavLst>
                                              <p:tav tm="0">
                                                <p:val>
                                                  <p:strVal val="1+#ppt_w/2"/>
                                                </p:val>
                                              </p:tav>
                                              <p:tav tm="100000">
                                                <p:val>
                                                  <p:strVal val="#ppt_x"/>
                                                </p:val>
                                              </p:tav>
                                            </p:tavLst>
                                          </p:anim>
                                        </p:childTnLst>
                                      </p:cTn>
                                    </p:par>
                                  </p:childTnLst>
                                </p:cTn>
                              </p:par>
                              <p:par>
                                <p:cTn id="26" fill="hold">
                                  <p:stCondLst>
                                    <p:cond delay="800"/>
                                  </p:stCondLst>
                                  <p:childTnLst>
                                    <p:par>
                                      <p:cTn id="23" presetID="2" presetClass="entr" presetSubtype="2" fill="hold" grpId="0" nodeType="afterEffect">
                                        <p:stCondLst>
                                          <p:cond delay="0"/>
                                        </p:stCondLst>
                                        <p:childTnLst>
                                          <p:set>
                                            <p:cBhvr>
                                              <p:cTn id="24" dur="1" fill="hold">
                                                <p:stCondLst>
                                                  <p:cond delay="0"/>
                                                </p:stCondLst>
                                              </p:cTn>
                                              <p:tgtEl>
                                                <p:spTgt spid="12"/>
                                              </p:tgtEl>
                                              <p:attrNameLst>
                                                <p:attrName>style.visibility</p:attrName>
                                              </p:attrNameLst>
                                            </p:cBhvr>
                                            <p:to>
                                              <p:strVal val="visible"/>
                                            </p:to>
                                          </p:set>
                                          <p:anim calcmode="lin" valueType="num">
                                            <p:cBhvr additive="base">
                                              <p:cTn id="25" dur="700" fill="hold"/>
                                              <p:tgtEl>
                                                <p:spTgt spid="12"/>
                                              </p:tgtEl>
                                              <p:attrNameLst>
                                                <p:attrName>ppt_x</p:attrName>
                                              </p:attrNameLst>
                                            </p:cBhvr>
                                            <p:tavLst>
                                              <p:tav tm="0">
                                                <p:val>
                                                  <p:strVal val="1+#ppt_w/2"/>
                                                </p:val>
                                              </p:tav>
                                              <p:tav tm="100000">
                                                <p:val>
                                                  <p:strVal val="#ppt_x"/>
                                                </p:val>
                                              </p:tav>
                                            </p:tavLst>
                                          </p:anim>
                                        </p:childTnLst>
                                      </p:cTn>
                                    </p:par>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Label"/>
          <p:cNvSpPr txBox="1"/>
          <p:nvPr/>
        </p:nvSpPr>
        <p:spPr>
          <a:xfrm>
            <a:off x="640080" y="411480"/>
            <a:ext cx="8229600" cy="365760"/>
          </a:xfrm>
          <a:prstGeom prst="rect">
            <a:avLst/>
          </a:prstGeom>
          <a:noFill/>
        </p:spPr>
        <p:txBody>
          <a:bodyPr wrap="square" anchor="t" lIns="0" rIns="0" tIns="0" bIns="0">
            <a:spAutoFit/>
          </a:bodyPr>
          <a:lstStyle/>
          <a:p>
            <a:pPr algn="l"/>
            <a:r>
              <a:rPr sz="1200" b="1">
                <a:solidFill>
                  <a:srgbClr val="E9B44C"/>
                </a:solidFill>
                <a:latin typeface="Calibri"/>
              </a:rPr>
              <a:t>03 · GESCHICHTE</a:t>
            </a:r>
          </a:p>
        </p:txBody>
      </p:sp>
      <p:sp>
        <p:nvSpPr>
          <p:cNvPr id="3" name="Titel"/>
          <p:cNvSpPr txBox="1"/>
          <p:nvPr/>
        </p:nvSpPr>
        <p:spPr>
          <a:xfrm>
            <a:off x="640080" y="731520"/>
            <a:ext cx="10881360" cy="868680"/>
          </a:xfrm>
          <a:prstGeom prst="rect">
            <a:avLst/>
          </a:prstGeom>
          <a:noFill/>
        </p:spPr>
        <p:txBody>
          <a:bodyPr wrap="square" anchor="t" lIns="0" rIns="0" tIns="0" bIns="0">
            <a:spAutoFit/>
          </a:bodyPr>
          <a:lstStyle/>
          <a:p>
            <a:pPr algn="l"/>
            <a:r>
              <a:rPr sz="3600" b="1">
                <a:solidFill>
                  <a:srgbClr val="F5F7FA"/>
                </a:solidFill>
                <a:latin typeface="Calibri"/>
              </a:rPr>
              <a:t>Vom Goldrausch zum 41. Staat</a:t>
            </a:r>
          </a:p>
        </p:txBody>
      </p:sp>
      <p:sp>
        <p:nvSpPr>
          <p:cNvPr id="4" name="Linie"/>
          <p:cNvSpPr/>
          <p:nvPr/>
        </p:nvSpPr>
        <p:spPr>
          <a:xfrm>
            <a:off x="640080" y="1627632"/>
            <a:ext cx="1005840" cy="45720"/>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usszeile"/>
          <p:cNvSpPr txBox="1"/>
          <p:nvPr/>
        </p:nvSpPr>
        <p:spPr>
          <a:xfrm>
            <a:off x="640080" y="6355080"/>
            <a:ext cx="5486400" cy="274320"/>
          </a:xfrm>
          <a:prstGeom prst="rect">
            <a:avLst/>
          </a:prstGeom>
          <a:noFill/>
        </p:spPr>
        <p:txBody>
          <a:bodyPr wrap="square" anchor="t" lIns="0" rIns="0" tIns="0" bIns="0">
            <a:spAutoFit/>
          </a:bodyPr>
          <a:lstStyle/>
          <a:p>
            <a:pPr algn="l"/>
            <a:r>
              <a:rPr sz="1000" b="0">
                <a:solidFill>
                  <a:srgbClr val="9AA8BF"/>
                </a:solidFill>
                <a:latin typeface="Calibri"/>
              </a:rPr>
              <a:t>Montana · Präsentation</a:t>
            </a:r>
          </a:p>
        </p:txBody>
      </p:sp>
      <p:sp>
        <p:nvSpPr>
          <p:cNvPr id="6" name="Seitenzahl"/>
          <p:cNvSpPr txBox="1"/>
          <p:nvPr/>
        </p:nvSpPr>
        <p:spPr>
          <a:xfrm>
            <a:off x="10881360" y="6355080"/>
            <a:ext cx="685800" cy="274320"/>
          </a:xfrm>
          <a:prstGeom prst="rect">
            <a:avLst/>
          </a:prstGeom>
          <a:noFill/>
        </p:spPr>
        <p:txBody>
          <a:bodyPr wrap="square" anchor="t" lIns="0" rIns="0" tIns="0" bIns="0">
            <a:spAutoFit/>
          </a:bodyPr>
          <a:lstStyle/>
          <a:p>
            <a:pPr algn="r"/>
            <a:r>
              <a:rPr sz="1000" b="0">
                <a:solidFill>
                  <a:srgbClr val="9AA8BF"/>
                </a:solidFill>
                <a:latin typeface="Calibri"/>
              </a:rPr>
              <a:t>4</a:t>
            </a:r>
          </a:p>
        </p:txBody>
      </p:sp>
      <p:sp>
        <p:nvSpPr>
          <p:cNvPr id="7" name="Zeitachse"/>
          <p:cNvSpPr/>
          <p:nvPr/>
        </p:nvSpPr>
        <p:spPr>
          <a:xfrm>
            <a:off x="914400" y="3520440"/>
            <a:ext cx="10332720" cy="45720"/>
          </a:xfrm>
          <a:prstGeom prst="rect">
            <a:avLst/>
          </a:prstGeom>
          <a:solidFill>
            <a:srgbClr val="9AA8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unkt1"/>
          <p:cNvSpPr/>
          <p:nvPr/>
        </p:nvSpPr>
        <p:spPr>
          <a:xfrm>
            <a:off x="1316736" y="3383280"/>
            <a:ext cx="292608" cy="292608"/>
          </a:xfrm>
          <a:prstGeom prst="ellipse">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Jahr1"/>
          <p:cNvSpPr txBox="1"/>
          <p:nvPr/>
        </p:nvSpPr>
        <p:spPr>
          <a:xfrm>
            <a:off x="274320" y="2240280"/>
            <a:ext cx="2377440" cy="822960"/>
          </a:xfrm>
          <a:prstGeom prst="rect">
            <a:avLst/>
          </a:prstGeom>
          <a:noFill/>
        </p:spPr>
        <p:txBody>
          <a:bodyPr wrap="square" anchor="t" lIns="0" rIns="0" tIns="0" bIns="0">
            <a:spAutoFit/>
          </a:bodyPr>
          <a:lstStyle/>
          <a:p>
            <a:pPr algn="ctr"/>
            <a:r>
              <a:rPr sz="3600" b="1">
                <a:solidFill>
                  <a:srgbClr val="E9B44C"/>
                </a:solidFill>
                <a:latin typeface="Calibri"/>
              </a:rPr>
              <a:t>1803</a:t>
            </a:r>
          </a:p>
        </p:txBody>
      </p:sp>
      <p:sp>
        <p:nvSpPr>
          <p:cNvPr id="10" name="Text1"/>
          <p:cNvSpPr txBox="1"/>
          <p:nvPr/>
        </p:nvSpPr>
        <p:spPr>
          <a:xfrm>
            <a:off x="137160" y="3977639"/>
            <a:ext cx="2651760" cy="1371600"/>
          </a:xfrm>
          <a:prstGeom prst="rect">
            <a:avLst/>
          </a:prstGeom>
          <a:noFill/>
        </p:spPr>
        <p:txBody>
          <a:bodyPr wrap="square" anchor="t" lIns="0" rIns="0" tIns="0" bIns="0">
            <a:spAutoFit/>
          </a:bodyPr>
          <a:lstStyle/>
          <a:p>
            <a:pPr algn="ctr"/>
            <a:r>
              <a:rPr sz="1600" b="0">
                <a:solidFill>
                  <a:srgbClr val="F5F7FA"/>
                </a:solidFill>
                <a:latin typeface="Calibri"/>
              </a:rPr>
              <a:t>Louisiana Purchase: das Gebiet kommt zu den USA</a:t>
            </a:r>
          </a:p>
        </p:txBody>
      </p:sp>
      <p:sp>
        <p:nvSpPr>
          <p:cNvPr id="11" name="Punkt2"/>
          <p:cNvSpPr/>
          <p:nvPr/>
        </p:nvSpPr>
        <p:spPr>
          <a:xfrm>
            <a:off x="4334256" y="3383280"/>
            <a:ext cx="292608" cy="292608"/>
          </a:xfrm>
          <a:prstGeom prst="ellipse">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Jahr2"/>
          <p:cNvSpPr txBox="1"/>
          <p:nvPr/>
        </p:nvSpPr>
        <p:spPr>
          <a:xfrm>
            <a:off x="3291840" y="2240280"/>
            <a:ext cx="2377440" cy="822960"/>
          </a:xfrm>
          <a:prstGeom prst="rect">
            <a:avLst/>
          </a:prstGeom>
          <a:noFill/>
        </p:spPr>
        <p:txBody>
          <a:bodyPr wrap="square" anchor="t" lIns="0" rIns="0" tIns="0" bIns="0">
            <a:spAutoFit/>
          </a:bodyPr>
          <a:lstStyle/>
          <a:p>
            <a:pPr algn="ctr"/>
            <a:r>
              <a:rPr sz="3600" b="1">
                <a:solidFill>
                  <a:srgbClr val="E9B44C"/>
                </a:solidFill>
                <a:latin typeface="Calibri"/>
              </a:rPr>
              <a:t>1858</a:t>
            </a:r>
          </a:p>
        </p:txBody>
      </p:sp>
      <p:sp>
        <p:nvSpPr>
          <p:cNvPr id="13" name="Text2"/>
          <p:cNvSpPr txBox="1"/>
          <p:nvPr/>
        </p:nvSpPr>
        <p:spPr>
          <a:xfrm>
            <a:off x="3154680" y="3977639"/>
            <a:ext cx="2651760" cy="1371600"/>
          </a:xfrm>
          <a:prstGeom prst="rect">
            <a:avLst/>
          </a:prstGeom>
          <a:noFill/>
        </p:spPr>
        <p:txBody>
          <a:bodyPr wrap="square" anchor="t" lIns="0" rIns="0" tIns="0" bIns="0">
            <a:spAutoFit/>
          </a:bodyPr>
          <a:lstStyle/>
          <a:p>
            <a:pPr algn="ctr"/>
            <a:r>
              <a:rPr sz="1600" b="0">
                <a:solidFill>
                  <a:srgbClr val="F5F7FA"/>
                </a:solidFill>
                <a:latin typeface="Calibri"/>
              </a:rPr>
              <a:t>Goldfund: Zuwanderung und Städte entstehen</a:t>
            </a:r>
          </a:p>
        </p:txBody>
      </p:sp>
      <p:sp>
        <p:nvSpPr>
          <p:cNvPr id="14" name="Punkt3"/>
          <p:cNvSpPr/>
          <p:nvPr/>
        </p:nvSpPr>
        <p:spPr>
          <a:xfrm>
            <a:off x="7351775" y="3383280"/>
            <a:ext cx="292608" cy="292608"/>
          </a:xfrm>
          <a:prstGeom prst="ellipse">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Jahr3"/>
          <p:cNvSpPr txBox="1"/>
          <p:nvPr/>
        </p:nvSpPr>
        <p:spPr>
          <a:xfrm>
            <a:off x="6309359" y="2240280"/>
            <a:ext cx="2377440" cy="822960"/>
          </a:xfrm>
          <a:prstGeom prst="rect">
            <a:avLst/>
          </a:prstGeom>
          <a:noFill/>
        </p:spPr>
        <p:txBody>
          <a:bodyPr wrap="square" anchor="t" lIns="0" rIns="0" tIns="0" bIns="0">
            <a:spAutoFit/>
          </a:bodyPr>
          <a:lstStyle/>
          <a:p>
            <a:pPr algn="ctr"/>
            <a:r>
              <a:rPr sz="3600" b="1">
                <a:solidFill>
                  <a:srgbClr val="E9B44C"/>
                </a:solidFill>
                <a:latin typeface="Calibri"/>
              </a:rPr>
              <a:t>1864</a:t>
            </a:r>
          </a:p>
        </p:txBody>
      </p:sp>
      <p:sp>
        <p:nvSpPr>
          <p:cNvPr id="16" name="Text3"/>
          <p:cNvSpPr txBox="1"/>
          <p:nvPr/>
        </p:nvSpPr>
        <p:spPr>
          <a:xfrm>
            <a:off x="6172199" y="3977639"/>
            <a:ext cx="2651760" cy="1371600"/>
          </a:xfrm>
          <a:prstGeom prst="rect">
            <a:avLst/>
          </a:prstGeom>
          <a:noFill/>
        </p:spPr>
        <p:txBody>
          <a:bodyPr wrap="square" anchor="t" lIns="0" rIns="0" tIns="0" bIns="0">
            <a:spAutoFit/>
          </a:bodyPr>
          <a:lstStyle/>
          <a:p>
            <a:pPr algn="ctr"/>
            <a:r>
              <a:rPr sz="1600" b="0">
                <a:solidFill>
                  <a:srgbClr val="F5F7FA"/>
                </a:solidFill>
                <a:latin typeface="Calibri"/>
              </a:rPr>
              <a:t>Montana-Territorium entsteht (26. Mai)</a:t>
            </a:r>
          </a:p>
        </p:txBody>
      </p:sp>
      <p:sp>
        <p:nvSpPr>
          <p:cNvPr id="17" name="Punkt4"/>
          <p:cNvSpPr/>
          <p:nvPr/>
        </p:nvSpPr>
        <p:spPr>
          <a:xfrm>
            <a:off x="10369295" y="3383280"/>
            <a:ext cx="292608" cy="292608"/>
          </a:xfrm>
          <a:prstGeom prst="ellipse">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Jahr4"/>
          <p:cNvSpPr txBox="1"/>
          <p:nvPr/>
        </p:nvSpPr>
        <p:spPr>
          <a:xfrm>
            <a:off x="9326879" y="2240280"/>
            <a:ext cx="2377440" cy="822960"/>
          </a:xfrm>
          <a:prstGeom prst="rect">
            <a:avLst/>
          </a:prstGeom>
          <a:noFill/>
        </p:spPr>
        <p:txBody>
          <a:bodyPr wrap="square" anchor="t" lIns="0" rIns="0" tIns="0" bIns="0">
            <a:spAutoFit/>
          </a:bodyPr>
          <a:lstStyle/>
          <a:p>
            <a:pPr algn="ctr"/>
            <a:r>
              <a:rPr sz="3600" b="1">
                <a:solidFill>
                  <a:srgbClr val="E9B44C"/>
                </a:solidFill>
                <a:latin typeface="Calibri"/>
              </a:rPr>
              <a:t>1889</a:t>
            </a:r>
          </a:p>
        </p:txBody>
      </p:sp>
      <p:sp>
        <p:nvSpPr>
          <p:cNvPr id="19" name="Text4"/>
          <p:cNvSpPr txBox="1"/>
          <p:nvPr/>
        </p:nvSpPr>
        <p:spPr>
          <a:xfrm>
            <a:off x="9189719" y="3977639"/>
            <a:ext cx="2651760" cy="1371600"/>
          </a:xfrm>
          <a:prstGeom prst="rect">
            <a:avLst/>
          </a:prstGeom>
          <a:noFill/>
        </p:spPr>
        <p:txBody>
          <a:bodyPr wrap="square" anchor="t" lIns="0" rIns="0" tIns="0" bIns="0">
            <a:spAutoFit/>
          </a:bodyPr>
          <a:lstStyle/>
          <a:p>
            <a:pPr algn="ctr"/>
            <a:r>
              <a:rPr sz="1600" b="0">
                <a:solidFill>
                  <a:srgbClr val="F5F7FA"/>
                </a:solidFill>
                <a:latin typeface="Calibri"/>
              </a:rPr>
              <a:t>Aufnahme als 41. Staat (8. November)</a:t>
            </a:r>
          </a:p>
        </p:txBody>
      </p:sp>
      <p:sp>
        <p:nvSpPr>
          <p:cNvPr id="20" name="Hinweis"/>
          <p:cNvSpPr txBox="1"/>
          <p:nvPr/>
        </p:nvSpPr>
        <p:spPr>
          <a:xfrm>
            <a:off x="640080" y="5623560"/>
            <a:ext cx="10881360" cy="548640"/>
          </a:xfrm>
          <a:prstGeom prst="rect">
            <a:avLst/>
          </a:prstGeom>
          <a:noFill/>
        </p:spPr>
        <p:txBody>
          <a:bodyPr wrap="square" anchor="t" lIns="0" rIns="0" tIns="0" bIns="0">
            <a:spAutoFit/>
          </a:bodyPr>
          <a:lstStyle/>
          <a:p>
            <a:pPr algn="l"/>
            <a:r>
              <a:rPr sz="1400" b="0">
                <a:solidFill>
                  <a:srgbClr val="9AA8BF"/>
                </a:solidFill>
                <a:latin typeface="Calibri"/>
              </a:rPr>
              <a:t>Lange vor 1803 lebten hier viele indigene Völker. Ihre Geschichte beginnt nicht mit der Landnahme.</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1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56" fill="hold">
                            <p:stCondLst>
                              <p:cond delay="0"/>
                            </p:stCondLst>
                            <p:childTnLst>
                              <p:par>
                                <p:cTn id="6" fill="hold">
                                  <p:stCondLst>
                                    <p:cond delay="0"/>
                                  </p:stCondLst>
                                  <p:childTnLst>
                                    <p:par>
                                      <p:cTn id="3" presetID="2" presetClass="entr" presetSubtype="4" fill="hold" grpId="0" nodeType="afterEffect">
                                        <p:stCondLst>
                                          <p:cond delay="0"/>
                                        </p:stCondLst>
                                        <p:childTnLst>
                                          <p:set>
                                            <p:cBhvr>
                                              <p:cTn id="4" dur="1" fill="hold">
                                                <p:stCondLst>
                                                  <p:cond delay="0"/>
                                                </p:stCondLst>
                                              </p:cTn>
                                              <p:tgtEl>
                                                <p:spTgt spid="9"/>
                                              </p:tgtEl>
                                              <p:attrNameLst>
                                                <p:attrName>style.visibility</p:attrName>
                                              </p:attrNameLst>
                                            </p:cBhvr>
                                            <p:to>
                                              <p:strVal val="visible"/>
                                            </p:to>
                                          </p:set>
                                          <p:anim calcmode="lin" valueType="num">
                                            <p:cBhvr additive="base">
                                              <p:cTn id="5" dur="700" fill="hold"/>
                                              <p:tgtEl>
                                                <p:spTgt spid="9"/>
                                              </p:tgtEl>
                                              <p:attrNameLst>
                                                <p:attrName>ppt_y</p:attrName>
                                              </p:attrNameLst>
                                            </p:cBhvr>
                                            <p:tavLst>
                                              <p:tav tm="0">
                                                <p:val>
                                                  <p:strVal val="1+#ppt_h/2"/>
                                                </p:val>
                                              </p:tav>
                                              <p:tav tm="100000">
                                                <p:val>
                                                  <p:strVal val="#ppt_y"/>
                                                </p:val>
                                              </p:tav>
                                            </p:tavLst>
                                          </p:anim>
                                        </p:childTnLst>
                                      </p:cTn>
                                    </p:par>
                                  </p:childTnLst>
                                </p:cTn>
                              </p:par>
                              <p:par>
                                <p:cTn id="10" fill="hold">
                                  <p:stCondLst>
                                    <p:cond delay="170"/>
                                  </p:stCondLst>
                                  <p:childTnLst>
                                    <p:par>
                                      <p:cTn id="7" presetID="2" presetClass="entr" presetSubtype="2" fill="hold" grpId="0" nodeType="after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700" fill="hold"/>
                                              <p:tgtEl>
                                                <p:spTgt spid="8"/>
                                              </p:tgtEl>
                                              <p:attrNameLst>
                                                <p:attrName>ppt_x</p:attrName>
                                              </p:attrNameLst>
                                            </p:cBhvr>
                                            <p:tavLst>
                                              <p:tav tm="0">
                                                <p:val>
                                                  <p:strVal val="1+#ppt_w/2"/>
                                                </p:val>
                                              </p:tav>
                                              <p:tav tm="100000">
                                                <p:val>
                                                  <p:strVal val="#ppt_x"/>
                                                </p:val>
                                              </p:tav>
                                            </p:tavLst>
                                          </p:anim>
                                        </p:childTnLst>
                                      </p:cTn>
                                    </p:par>
                                  </p:childTnLst>
                                </p:cTn>
                              </p:par>
                              <p:par>
                                <p:cTn id="14" fill="hold">
                                  <p:stCondLst>
                                    <p:cond delay="340"/>
                                  </p:stCondLst>
                                  <p:childTnLst>
                                    <p:par>
                                      <p:cTn id="11" presetID="2" presetClass="entr" presetSubtype="8" fill="hold" grpId="0" nodeType="afterEffect">
                                        <p:stCondLst>
                                          <p:cond delay="0"/>
                                        </p:stCondLst>
                                        <p:childTnLst>
                                          <p:set>
                                            <p:cBhvr>
                                              <p:cTn id="12" dur="1" fill="hold">
                                                <p:stCondLst>
                                                  <p:cond delay="0"/>
                                                </p:stCondLst>
                                              </p:cTn>
                                              <p:tgtEl>
                                                <p:spTgt spid="10"/>
                                              </p:tgtEl>
                                              <p:attrNameLst>
                                                <p:attrName>style.visibility</p:attrName>
                                              </p:attrNameLst>
                                            </p:cBhvr>
                                            <p:to>
                                              <p:strVal val="visible"/>
                                            </p:to>
                                          </p:set>
                                          <p:anim calcmode="lin" valueType="num">
                                            <p:cBhvr additive="base">
                                              <p:cTn id="13" dur="700" fill="hold"/>
                                              <p:tgtEl>
                                                <p:spTgt spid="10"/>
                                              </p:tgtEl>
                                              <p:attrNameLst>
                                                <p:attrName>ppt_x</p:attrName>
                                              </p:attrNameLst>
                                            </p:cBhvr>
                                            <p:tavLst>
                                              <p:tav tm="0">
                                                <p:val>
                                                  <p:strVal val="0-#ppt_w/2"/>
                                                </p:val>
                                              </p:tav>
                                              <p:tav tm="100000">
                                                <p:val>
                                                  <p:strVal val="#ppt_x"/>
                                                </p:val>
                                              </p:tav>
                                            </p:tavLst>
                                          </p:anim>
                                        </p:childTnLst>
                                      </p:cTn>
                                    </p:par>
                                  </p:childTnLst>
                                </p:cTn>
                              </p:par>
                              <p:par>
                                <p:cTn id="18" fill="hold">
                                  <p:stCondLst>
                                    <p:cond delay="510"/>
                                  </p:stCondLst>
                                  <p:childTnLst>
                                    <p:par>
                                      <p:cTn id="15" presetID="2" presetClass="entr" presetSubtype="8" fill="hold" grpId="0" nodeType="afterEffect">
                                        <p:stCondLst>
                                          <p:cond delay="0"/>
                                        </p:stCondLst>
                                        <p:childTnLst>
                                          <p:set>
                                            <p:cBhvr>
                                              <p:cTn id="16" dur="1" fill="hold">
                                                <p:stCondLst>
                                                  <p:cond delay="0"/>
                                                </p:stCondLst>
                                              </p:cTn>
                                              <p:tgtEl>
                                                <p:spTgt spid="12"/>
                                              </p:tgtEl>
                                              <p:attrNameLst>
                                                <p:attrName>style.visibility</p:attrName>
                                              </p:attrNameLst>
                                            </p:cBhvr>
                                            <p:to>
                                              <p:strVal val="visible"/>
                                            </p:to>
                                          </p:set>
                                          <p:anim calcmode="lin" valueType="num">
                                            <p:cBhvr additive="base">
                                              <p:cTn id="17" dur="700" fill="hold"/>
                                              <p:tgtEl>
                                                <p:spTgt spid="12"/>
                                              </p:tgtEl>
                                              <p:attrNameLst>
                                                <p:attrName>ppt_x</p:attrName>
                                              </p:attrNameLst>
                                            </p:cBhvr>
                                            <p:tavLst>
                                              <p:tav tm="0">
                                                <p:val>
                                                  <p:strVal val="0-#ppt_w/2"/>
                                                </p:val>
                                              </p:tav>
                                              <p:tav tm="100000">
                                                <p:val>
                                                  <p:strVal val="#ppt_x"/>
                                                </p:val>
                                              </p:tav>
                                            </p:tavLst>
                                          </p:anim>
                                        </p:childTnLst>
                                      </p:cTn>
                                    </p:par>
                                  </p:childTnLst>
                                </p:cTn>
                              </p:par>
                              <p:par>
                                <p:cTn id="22" fill="hold">
                                  <p:stCondLst>
                                    <p:cond delay="680"/>
                                  </p:stCondLst>
                                  <p:childTnLst>
                                    <p:par>
                                      <p:cTn id="19" presetID="2" presetClass="entr" presetSubtype="8" fill="hold" grpId="0" nodeType="afterEffect">
                                        <p:stCondLst>
                                          <p:cond delay="0"/>
                                        </p:stCondLst>
                                        <p:childTnLst>
                                          <p:set>
                                            <p:cBhvr>
                                              <p:cTn id="20" dur="1" fill="hold">
                                                <p:stCondLst>
                                                  <p:cond delay="0"/>
                                                </p:stCondLst>
                                              </p:cTn>
                                              <p:tgtEl>
                                                <p:spTgt spid="11"/>
                                              </p:tgtEl>
                                              <p:attrNameLst>
                                                <p:attrName>style.visibility</p:attrName>
                                              </p:attrNameLst>
                                            </p:cBhvr>
                                            <p:to>
                                              <p:strVal val="visible"/>
                                            </p:to>
                                          </p:set>
                                          <p:anim calcmode="lin" valueType="num">
                                            <p:cBhvr additive="base">
                                              <p:cTn id="21" dur="700" fill="hold"/>
                                              <p:tgtEl>
                                                <p:spTgt spid="11"/>
                                              </p:tgtEl>
                                              <p:attrNameLst>
                                                <p:attrName>ppt_x</p:attrName>
                                              </p:attrNameLst>
                                            </p:cBhvr>
                                            <p:tavLst>
                                              <p:tav tm="0">
                                                <p:val>
                                                  <p:strVal val="0-#ppt_w/2"/>
                                                </p:val>
                                              </p:tav>
                                              <p:tav tm="100000">
                                                <p:val>
                                                  <p:strVal val="#ppt_x"/>
                                                </p:val>
                                              </p:tav>
                                            </p:tavLst>
                                          </p:anim>
                                        </p:childTnLst>
                                      </p:cTn>
                                    </p:par>
                                  </p:childTnLst>
                                </p:cTn>
                              </p:par>
                              <p:par>
                                <p:cTn id="26" fill="hold">
                                  <p:stCondLst>
                                    <p:cond delay="850"/>
                                  </p:stCondLst>
                                  <p:childTnLst>
                                    <p:par>
                                      <p:cTn id="23" presetID="2" presetClass="entr" presetSubtype="1" fill="hold" grpId="0" nodeType="after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additive="base">
                                              <p:cTn id="25" dur="700" fill="hold"/>
                                              <p:tgtEl>
                                                <p:spTgt spid="13"/>
                                              </p:tgtEl>
                                              <p:attrNameLst>
                                                <p:attrName>ppt_y</p:attrName>
                                              </p:attrNameLst>
                                            </p:cBhvr>
                                            <p:tavLst>
                                              <p:tav tm="0">
                                                <p:val>
                                                  <p:strVal val="0-#ppt_h/2"/>
                                                </p:val>
                                              </p:tav>
                                              <p:tav tm="100000">
                                                <p:val>
                                                  <p:strVal val="#ppt_y"/>
                                                </p:val>
                                              </p:tav>
                                            </p:tavLst>
                                          </p:anim>
                                        </p:childTnLst>
                                      </p:cTn>
                                    </p:par>
                                  </p:childTnLst>
                                </p:cTn>
                              </p:par>
                              <p:par>
                                <p:cTn id="30" fill="hold">
                                  <p:stCondLst>
                                    <p:cond delay="1020"/>
                                  </p:stCondLst>
                                  <p:childTnLst>
                                    <p:par>
                                      <p:cTn id="27" presetID="2" presetClass="entr" presetSubtype="8" fill="hold" grpId="0" nodeType="afterEffect">
                                        <p:stCondLst>
                                          <p:cond delay="0"/>
                                        </p:stCondLst>
                                        <p:childTnLst>
                                          <p:set>
                                            <p:cBhvr>
                                              <p:cTn id="28" dur="1" fill="hold">
                                                <p:stCondLst>
                                                  <p:cond delay="0"/>
                                                </p:stCondLst>
                                              </p:cTn>
                                              <p:tgtEl>
                                                <p:spTgt spid="15"/>
                                              </p:tgtEl>
                                              <p:attrNameLst>
                                                <p:attrName>style.visibility</p:attrName>
                                              </p:attrNameLst>
                                            </p:cBhvr>
                                            <p:to>
                                              <p:strVal val="visible"/>
                                            </p:to>
                                          </p:set>
                                          <p:anim calcmode="lin" valueType="num">
                                            <p:cBhvr additive="base">
                                              <p:cTn id="29" dur="700" fill="hold"/>
                                              <p:tgtEl>
                                                <p:spTgt spid="15"/>
                                              </p:tgtEl>
                                              <p:attrNameLst>
                                                <p:attrName>ppt_x</p:attrName>
                                              </p:attrNameLst>
                                            </p:cBhvr>
                                            <p:tavLst>
                                              <p:tav tm="0">
                                                <p:val>
                                                  <p:strVal val="0-#ppt_w/2"/>
                                                </p:val>
                                              </p:tav>
                                              <p:tav tm="100000">
                                                <p:val>
                                                  <p:strVal val="#ppt_x"/>
                                                </p:val>
                                              </p:tav>
                                            </p:tavLst>
                                          </p:anim>
                                        </p:childTnLst>
                                      </p:cTn>
                                    </p:par>
                                  </p:childTnLst>
                                </p:cTn>
                              </p:par>
                              <p:par>
                                <p:cTn id="34" fill="hold">
                                  <p:stCondLst>
                                    <p:cond delay="1190"/>
                                  </p:stCondLst>
                                  <p:childTnLst>
                                    <p:par>
                                      <p:cTn id="31" presetID="2" presetClass="entr" presetSubtype="4" fill="hold" grpId="0" nodeType="afterEffect">
                                        <p:stCondLst>
                                          <p:cond delay="0"/>
                                        </p:stCondLst>
                                        <p:childTnLst>
                                          <p:set>
                                            <p:cBhvr>
                                              <p:cTn id="32" dur="1" fill="hold">
                                                <p:stCondLst>
                                                  <p:cond delay="0"/>
                                                </p:stCondLst>
                                              </p:cTn>
                                              <p:tgtEl>
                                                <p:spTgt spid="14"/>
                                              </p:tgtEl>
                                              <p:attrNameLst>
                                                <p:attrName>style.visibility</p:attrName>
                                              </p:attrNameLst>
                                            </p:cBhvr>
                                            <p:to>
                                              <p:strVal val="visible"/>
                                            </p:to>
                                          </p:set>
                                          <p:anim calcmode="lin" valueType="num">
                                            <p:cBhvr additive="base">
                                              <p:cTn id="33" dur="700" fill="hold"/>
                                              <p:tgtEl>
                                                <p:spTgt spid="14"/>
                                              </p:tgtEl>
                                              <p:attrNameLst>
                                                <p:attrName>ppt_y</p:attrName>
                                              </p:attrNameLst>
                                            </p:cBhvr>
                                            <p:tavLst>
                                              <p:tav tm="0">
                                                <p:val>
                                                  <p:strVal val="1+#ppt_h/2"/>
                                                </p:val>
                                              </p:tav>
                                              <p:tav tm="100000">
                                                <p:val>
                                                  <p:strVal val="#ppt_y"/>
                                                </p:val>
                                              </p:tav>
                                            </p:tavLst>
                                          </p:anim>
                                        </p:childTnLst>
                                      </p:cTn>
                                    </p:par>
                                  </p:childTnLst>
                                </p:cTn>
                              </p:par>
                              <p:par>
                                <p:cTn id="38" fill="hold">
                                  <p:stCondLst>
                                    <p:cond delay="1360"/>
                                  </p:stCondLst>
                                  <p:childTnLst>
                                    <p:par>
                                      <p:cTn id="35" presetID="2" presetClass="entr" presetSubtype="8" fill="hold" grpId="0" nodeType="afterEffect">
                                        <p:stCondLst>
                                          <p:cond delay="0"/>
                                        </p:stCondLst>
                                        <p:childTnLst>
                                          <p:set>
                                            <p:cBhvr>
                                              <p:cTn id="36" dur="1" fill="hold">
                                                <p:stCondLst>
                                                  <p:cond delay="0"/>
                                                </p:stCondLst>
                                              </p:cTn>
                                              <p:tgtEl>
                                                <p:spTgt spid="16"/>
                                              </p:tgtEl>
                                              <p:attrNameLst>
                                                <p:attrName>style.visibility</p:attrName>
                                              </p:attrNameLst>
                                            </p:cBhvr>
                                            <p:to>
                                              <p:strVal val="visible"/>
                                            </p:to>
                                          </p:set>
                                          <p:anim calcmode="lin" valueType="num">
                                            <p:cBhvr additive="base">
                                              <p:cTn id="37" dur="700" fill="hold"/>
                                              <p:tgtEl>
                                                <p:spTgt spid="16"/>
                                              </p:tgtEl>
                                              <p:attrNameLst>
                                                <p:attrName>ppt_x</p:attrName>
                                              </p:attrNameLst>
                                            </p:cBhvr>
                                            <p:tavLst>
                                              <p:tav tm="0">
                                                <p:val>
                                                  <p:strVal val="0-#ppt_w/2"/>
                                                </p:val>
                                              </p:tav>
                                              <p:tav tm="100000">
                                                <p:val>
                                                  <p:strVal val="#ppt_x"/>
                                                </p:val>
                                              </p:tav>
                                            </p:tavLst>
                                          </p:anim>
                                        </p:childTnLst>
                                      </p:cTn>
                                    </p:par>
                                  </p:childTnLst>
                                </p:cTn>
                              </p:par>
                              <p:par>
                                <p:cTn id="42" fill="hold">
                                  <p:stCondLst>
                                    <p:cond delay="1530"/>
                                  </p:stCondLst>
                                  <p:childTnLst>
                                    <p:par>
                                      <p:cTn id="39" presetID="2" presetClass="entr" presetSubtype="4" fill="hold" grpId="0" nodeType="afterEffect">
                                        <p:stCondLst>
                                          <p:cond delay="0"/>
                                        </p:stCondLst>
                                        <p:childTnLst>
                                          <p:set>
                                            <p:cBhvr>
                                              <p:cTn id="40" dur="1" fill="hold">
                                                <p:stCondLst>
                                                  <p:cond delay="0"/>
                                                </p:stCondLst>
                                              </p:cTn>
                                              <p:tgtEl>
                                                <p:spTgt spid="18"/>
                                              </p:tgtEl>
                                              <p:attrNameLst>
                                                <p:attrName>style.visibility</p:attrName>
                                              </p:attrNameLst>
                                            </p:cBhvr>
                                            <p:to>
                                              <p:strVal val="visible"/>
                                            </p:to>
                                          </p:set>
                                          <p:anim calcmode="lin" valueType="num">
                                            <p:cBhvr additive="base">
                                              <p:cTn id="41" dur="700" fill="hold"/>
                                              <p:tgtEl>
                                                <p:spTgt spid="18"/>
                                              </p:tgtEl>
                                              <p:attrNameLst>
                                                <p:attrName>ppt_y</p:attrName>
                                              </p:attrNameLst>
                                            </p:cBhvr>
                                            <p:tavLst>
                                              <p:tav tm="0">
                                                <p:val>
                                                  <p:strVal val="1+#ppt_h/2"/>
                                                </p:val>
                                              </p:tav>
                                              <p:tav tm="100000">
                                                <p:val>
                                                  <p:strVal val="#ppt_y"/>
                                                </p:val>
                                              </p:tav>
                                            </p:tavLst>
                                          </p:anim>
                                        </p:childTnLst>
                                      </p:cTn>
                                    </p:par>
                                  </p:childTnLst>
                                </p:cTn>
                              </p:par>
                              <p:par>
                                <p:cTn id="46" fill="hold">
                                  <p:stCondLst>
                                    <p:cond delay="1700"/>
                                  </p:stCondLst>
                                  <p:childTnLst>
                                    <p:par>
                                      <p:cTn id="43" presetID="2" presetClass="entr" presetSubtype="1" fill="hold" grpId="0" nodeType="afterEffect">
                                        <p:stCondLst>
                                          <p:cond delay="0"/>
                                        </p:stCondLst>
                                        <p:childTnLst>
                                          <p:set>
                                            <p:cBhvr>
                                              <p:cTn id="44" dur="1" fill="hold">
                                                <p:stCondLst>
                                                  <p:cond delay="0"/>
                                                </p:stCondLst>
                                              </p:cTn>
                                              <p:tgtEl>
                                                <p:spTgt spid="17"/>
                                              </p:tgtEl>
                                              <p:attrNameLst>
                                                <p:attrName>style.visibility</p:attrName>
                                              </p:attrNameLst>
                                            </p:cBhvr>
                                            <p:to>
                                              <p:strVal val="visible"/>
                                            </p:to>
                                          </p:set>
                                          <p:anim calcmode="lin" valueType="num">
                                            <p:cBhvr additive="base">
                                              <p:cTn id="45" dur="700" fill="hold"/>
                                              <p:tgtEl>
                                                <p:spTgt spid="17"/>
                                              </p:tgtEl>
                                              <p:attrNameLst>
                                                <p:attrName>ppt_y</p:attrName>
                                              </p:attrNameLst>
                                            </p:cBhvr>
                                            <p:tavLst>
                                              <p:tav tm="0">
                                                <p:val>
                                                  <p:strVal val="0-#ppt_h/2"/>
                                                </p:val>
                                              </p:tav>
                                              <p:tav tm="100000">
                                                <p:val>
                                                  <p:strVal val="#ppt_y"/>
                                                </p:val>
                                              </p:tav>
                                            </p:tavLst>
                                          </p:anim>
                                        </p:childTnLst>
                                      </p:cTn>
                                    </p:par>
                                  </p:childTnLst>
                                </p:cTn>
                              </p:par>
                              <p:par>
                                <p:cTn id="50" fill="hold">
                                  <p:stCondLst>
                                    <p:cond delay="1870"/>
                                  </p:stCondLst>
                                  <p:childTnLst>
                                    <p:par>
                                      <p:cTn id="47" presetID="2" presetClass="entr" presetSubtype="2" fill="hold" grpId="0" nodeType="afterEffect">
                                        <p:stCondLst>
                                          <p:cond delay="0"/>
                                        </p:stCondLst>
                                        <p:childTnLst>
                                          <p:set>
                                            <p:cBhvr>
                                              <p:cTn id="48" dur="1" fill="hold">
                                                <p:stCondLst>
                                                  <p:cond delay="0"/>
                                                </p:stCondLst>
                                              </p:cTn>
                                              <p:tgtEl>
                                                <p:spTgt spid="19"/>
                                              </p:tgtEl>
                                              <p:attrNameLst>
                                                <p:attrName>style.visibility</p:attrName>
                                              </p:attrNameLst>
                                            </p:cBhvr>
                                            <p:to>
                                              <p:strVal val="visible"/>
                                            </p:to>
                                          </p:set>
                                          <p:anim calcmode="lin" valueType="num">
                                            <p:cBhvr additive="base">
                                              <p:cTn id="49" dur="700" fill="hold"/>
                                              <p:tgtEl>
                                                <p:spTgt spid="19"/>
                                              </p:tgtEl>
                                              <p:attrNameLst>
                                                <p:attrName>ppt_x</p:attrName>
                                              </p:attrNameLst>
                                            </p:cBhvr>
                                            <p:tavLst>
                                              <p:tav tm="0">
                                                <p:val>
                                                  <p:strVal val="1+#ppt_w/2"/>
                                                </p:val>
                                              </p:tav>
                                              <p:tav tm="100000">
                                                <p:val>
                                                  <p:strVal val="#ppt_x"/>
                                                </p:val>
                                              </p:tav>
                                            </p:tavLst>
                                          </p:anim>
                                        </p:childTnLst>
                                      </p:cTn>
                                    </p:par>
                                  </p:childTnLst>
                                </p:cTn>
                              </p:par>
                              <p:par>
                                <p:cTn id="54" fill="hold">
                                  <p:stCondLst>
                                    <p:cond delay="2040"/>
                                  </p:stCondLst>
                                  <p:childTnLst>
                                    <p:par>
                                      <p:cTn id="51" presetID="2" presetClass="entr" presetSubtype="4" fill="hold" grpId="0" nodeType="afterEffect">
                                        <p:stCondLst>
                                          <p:cond delay="0"/>
                                        </p:stCondLst>
                                        <p:childTnLst>
                                          <p:set>
                                            <p:cBhvr>
                                              <p:cTn id="52" dur="1" fill="hold">
                                                <p:stCondLst>
                                                  <p:cond delay="0"/>
                                                </p:stCondLst>
                                              </p:cTn>
                                              <p:tgtEl>
                                                <p:spTgt spid="20"/>
                                              </p:tgtEl>
                                              <p:attrNameLst>
                                                <p:attrName>style.visibility</p:attrName>
                                              </p:attrNameLst>
                                            </p:cBhvr>
                                            <p:to>
                                              <p:strVal val="visible"/>
                                            </p:to>
                                          </p:set>
                                          <p:anim calcmode="lin" valueType="num">
                                            <p:cBhvr additive="base">
                                              <p:cTn id="53" dur="700" fill="hold"/>
                                              <p:tgtEl>
                                                <p:spTgt spid="20"/>
                                              </p:tgtEl>
                                              <p:attrNameLst>
                                                <p:attrName>ppt_y</p:attrName>
                                              </p:attrNameLst>
                                            </p:cBhvr>
                                            <p:tavLst>
                                              <p:tav tm="0">
                                                <p:val>
                                                  <p:strVal val="1+#ppt_h/2"/>
                                                </p:val>
                                              </p:tav>
                                              <p:tav tm="100000">
                                                <p:val>
                                                  <p:strVal val="#ppt_y"/>
                                                </p:val>
                                              </p:tav>
                                            </p:tavLst>
                                          </p:anim>
                                        </p:childTnLst>
                                      </p:cTn>
                                    </p:par>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8" grpId="0" animBg="1"/>
      <p:bldP spid="10" grpId="0" animBg="1"/>
      <p:bldP spid="12" grpId="0" animBg="1"/>
      <p:bldP spid="11" grpId="0" animBg="1"/>
      <p:bldP spid="13" grpId="0" animBg="1"/>
      <p:bldP spid="15" grpId="0" animBg="1"/>
      <p:bldP spid="14" grpId="0" animBg="1"/>
      <p:bldP spid="16" grpId="0" animBg="1"/>
      <p:bldP spid="18" grpId="0" animBg="1"/>
      <p:bldP spid="17" grpId="0" animBg="1"/>
      <p:bldP spid="19" grpId="0" animBg="1"/>
      <p:bldP spid="20"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Label"/>
          <p:cNvSpPr txBox="1"/>
          <p:nvPr/>
        </p:nvSpPr>
        <p:spPr>
          <a:xfrm>
            <a:off x="640080" y="411480"/>
            <a:ext cx="8229600" cy="365760"/>
          </a:xfrm>
          <a:prstGeom prst="rect">
            <a:avLst/>
          </a:prstGeom>
          <a:noFill/>
        </p:spPr>
        <p:txBody>
          <a:bodyPr wrap="square" anchor="t" lIns="0" rIns="0" tIns="0" bIns="0">
            <a:spAutoFit/>
          </a:bodyPr>
          <a:lstStyle/>
          <a:p>
            <a:pPr algn="l"/>
            <a:r>
              <a:rPr sz="1200" b="1">
                <a:solidFill>
                  <a:srgbClr val="E9B44C"/>
                </a:solidFill>
                <a:latin typeface="Calibri"/>
              </a:rPr>
              <a:t>04 · NATUR</a:t>
            </a:r>
          </a:p>
        </p:txBody>
      </p:sp>
      <p:sp>
        <p:nvSpPr>
          <p:cNvPr id="3" name="Titel"/>
          <p:cNvSpPr txBox="1"/>
          <p:nvPr/>
        </p:nvSpPr>
        <p:spPr>
          <a:xfrm>
            <a:off x="640080" y="731520"/>
            <a:ext cx="10881360" cy="868680"/>
          </a:xfrm>
          <a:prstGeom prst="rect">
            <a:avLst/>
          </a:prstGeom>
          <a:noFill/>
        </p:spPr>
        <p:txBody>
          <a:bodyPr wrap="square" anchor="t" lIns="0" rIns="0" tIns="0" bIns="0">
            <a:spAutoFit/>
          </a:bodyPr>
          <a:lstStyle/>
          <a:p>
            <a:pPr algn="l"/>
            <a:r>
              <a:rPr sz="3600" b="1">
                <a:solidFill>
                  <a:srgbClr val="F5F7FA"/>
                </a:solidFill>
                <a:latin typeface="Calibri"/>
              </a:rPr>
              <a:t>Glacier National Park</a:t>
            </a:r>
          </a:p>
        </p:txBody>
      </p:sp>
      <p:sp>
        <p:nvSpPr>
          <p:cNvPr id="4" name="Linie"/>
          <p:cNvSpPr/>
          <p:nvPr/>
        </p:nvSpPr>
        <p:spPr>
          <a:xfrm>
            <a:off x="640080" y="1627632"/>
            <a:ext cx="1005840" cy="45720"/>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usszeile"/>
          <p:cNvSpPr txBox="1"/>
          <p:nvPr/>
        </p:nvSpPr>
        <p:spPr>
          <a:xfrm>
            <a:off x="640080" y="6355080"/>
            <a:ext cx="5486400" cy="274320"/>
          </a:xfrm>
          <a:prstGeom prst="rect">
            <a:avLst/>
          </a:prstGeom>
          <a:noFill/>
        </p:spPr>
        <p:txBody>
          <a:bodyPr wrap="square" anchor="t" lIns="0" rIns="0" tIns="0" bIns="0">
            <a:spAutoFit/>
          </a:bodyPr>
          <a:lstStyle/>
          <a:p>
            <a:pPr algn="l"/>
            <a:r>
              <a:rPr sz="1000" b="0">
                <a:solidFill>
                  <a:srgbClr val="9AA8BF"/>
                </a:solidFill>
                <a:latin typeface="Calibri"/>
              </a:rPr>
              <a:t>Montana · Präsentation</a:t>
            </a:r>
          </a:p>
        </p:txBody>
      </p:sp>
      <p:sp>
        <p:nvSpPr>
          <p:cNvPr id="6" name="Seitenzahl"/>
          <p:cNvSpPr txBox="1"/>
          <p:nvPr/>
        </p:nvSpPr>
        <p:spPr>
          <a:xfrm>
            <a:off x="10881360" y="6355080"/>
            <a:ext cx="685800" cy="274320"/>
          </a:xfrm>
          <a:prstGeom prst="rect">
            <a:avLst/>
          </a:prstGeom>
          <a:noFill/>
        </p:spPr>
        <p:txBody>
          <a:bodyPr wrap="square" anchor="t" lIns="0" rIns="0" tIns="0" bIns="0">
            <a:spAutoFit/>
          </a:bodyPr>
          <a:lstStyle/>
          <a:p>
            <a:pPr algn="r"/>
            <a:r>
              <a:rPr sz="1000" b="0">
                <a:solidFill>
                  <a:srgbClr val="9AA8BF"/>
                </a:solidFill>
                <a:latin typeface="Calibri"/>
              </a:rPr>
              <a:t>5</a:t>
            </a:r>
          </a:p>
        </p:txBody>
      </p:sp>
      <p:sp>
        <p:nvSpPr>
          <p:cNvPr id="7" name="Stat1"/>
          <p:cNvSpPr/>
          <p:nvPr/>
        </p:nvSpPr>
        <p:spPr>
          <a:xfrm>
            <a:off x="640080" y="2011680"/>
            <a:ext cx="4754880" cy="914400"/>
          </a:xfrm>
          <a:prstGeom prst="roundRect">
            <a:avLst>
              <a:gd name="adj" fmla="val 8000"/>
            </a:avLst>
          </a:prstGeom>
          <a:solidFill>
            <a:srgbClr val="141E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20700" bIns="120700"/>
          <a:lstStyle/>
          <a:p>
            <a:pPr algn="l"/>
            <a:r>
              <a:rPr sz="3000" b="1">
                <a:solidFill>
                  <a:srgbClr val="E9B44C"/>
                </a:solidFill>
                <a:latin typeface="Calibri"/>
              </a:rPr>
              <a:t>1910</a:t>
            </a:r>
          </a:p>
          <a:p>
            <a:pPr algn="l"/>
            <a:r>
              <a:rPr sz="1500" b="0">
                <a:solidFill>
                  <a:srgbClr val="F5F7FA"/>
                </a:solidFill>
                <a:latin typeface="Calibri"/>
              </a:rPr>
              <a:t>Gründung des Nationalparks</a:t>
            </a:r>
          </a:p>
        </p:txBody>
      </p:sp>
      <p:sp>
        <p:nvSpPr>
          <p:cNvPr id="8" name="Stat2"/>
          <p:cNvSpPr/>
          <p:nvPr/>
        </p:nvSpPr>
        <p:spPr>
          <a:xfrm>
            <a:off x="640080" y="3035808"/>
            <a:ext cx="4754880" cy="914400"/>
          </a:xfrm>
          <a:prstGeom prst="roundRect">
            <a:avLst>
              <a:gd name="adj" fmla="val 8000"/>
            </a:avLst>
          </a:prstGeom>
          <a:solidFill>
            <a:srgbClr val="141E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20700" bIns="120700"/>
          <a:lstStyle/>
          <a:p>
            <a:pPr algn="l"/>
            <a:r>
              <a:rPr sz="3000" b="1">
                <a:solidFill>
                  <a:srgbClr val="E9B44C"/>
                </a:solidFill>
                <a:latin typeface="Calibri"/>
              </a:rPr>
              <a:t>26</a:t>
            </a:r>
          </a:p>
          <a:p>
            <a:pPr algn="l"/>
            <a:r>
              <a:rPr sz="1500" b="0">
                <a:solidFill>
                  <a:srgbClr val="F5F7FA"/>
                </a:solidFill>
                <a:latin typeface="Calibri"/>
              </a:rPr>
              <a:t>benannte Gletscher (um 1850 waren es rund 150)</a:t>
            </a:r>
          </a:p>
        </p:txBody>
      </p:sp>
      <p:sp>
        <p:nvSpPr>
          <p:cNvPr id="9" name="Stat3"/>
          <p:cNvSpPr/>
          <p:nvPr/>
        </p:nvSpPr>
        <p:spPr>
          <a:xfrm>
            <a:off x="640080" y="4059936"/>
            <a:ext cx="4754880" cy="914400"/>
          </a:xfrm>
          <a:prstGeom prst="roundRect">
            <a:avLst>
              <a:gd name="adj" fmla="val 8000"/>
            </a:avLst>
          </a:prstGeom>
          <a:solidFill>
            <a:srgbClr val="141E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20700" bIns="120700"/>
          <a:lstStyle/>
          <a:p>
            <a:pPr algn="l"/>
            <a:r>
              <a:rPr sz="3000" b="1">
                <a:solidFill>
                  <a:srgbClr val="E9B44C"/>
                </a:solidFill>
                <a:latin typeface="Calibri"/>
              </a:rPr>
              <a:t>762</a:t>
            </a:r>
          </a:p>
          <a:p>
            <a:pPr algn="l"/>
            <a:r>
              <a:rPr sz="1500" b="0">
                <a:solidFill>
                  <a:srgbClr val="F5F7FA"/>
                </a:solidFill>
                <a:latin typeface="Calibri"/>
              </a:rPr>
              <a:t>Seen im Park</a:t>
            </a:r>
          </a:p>
        </p:txBody>
      </p:sp>
      <p:sp>
        <p:nvSpPr>
          <p:cNvPr id="10" name="Stat4"/>
          <p:cNvSpPr/>
          <p:nvPr/>
        </p:nvSpPr>
        <p:spPr>
          <a:xfrm>
            <a:off x="640080" y="5084064"/>
            <a:ext cx="4754880" cy="914400"/>
          </a:xfrm>
          <a:prstGeom prst="roundRect">
            <a:avLst>
              <a:gd name="adj" fmla="val 8000"/>
            </a:avLst>
          </a:prstGeom>
          <a:solidFill>
            <a:srgbClr val="141E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20700" bIns="120700"/>
          <a:lstStyle/>
          <a:p>
            <a:pPr algn="l"/>
            <a:r>
              <a:rPr sz="3000" b="1">
                <a:solidFill>
                  <a:srgbClr val="E9B44C"/>
                </a:solidFill>
                <a:latin typeface="Calibri"/>
              </a:rPr>
              <a:t>3.190 m</a:t>
            </a:r>
          </a:p>
          <a:p>
            <a:pPr algn="l"/>
            <a:r>
              <a:rPr sz="1500" b="0">
                <a:solidFill>
                  <a:srgbClr val="F5F7FA"/>
                </a:solidFill>
                <a:latin typeface="Calibri"/>
              </a:rPr>
              <a:t>höchster Gipfel: Mount Cleveland</a:t>
            </a:r>
          </a:p>
        </p:txBody>
      </p:sp>
      <p:pic>
        <p:nvPicPr>
          <p:cNvPr id="11" name="Bild_Natur" descr="natur-hintergrund.jpg"/>
          <p:cNvPicPr>
            <a:picLocks noChangeAspect="1"/>
          </p:cNvPicPr>
          <p:nvPr/>
        </p:nvPicPr>
        <p:blipFill>
          <a:blip r:embed="rId2"/>
          <a:srcRect l="24575" r="24575"/>
          <a:stretch>
            <a:fillRect/>
          </a:stretch>
        </p:blipFill>
        <p:spPr>
          <a:xfrm>
            <a:off x="5943600" y="0"/>
            <a:ext cx="6248095" cy="685800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1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23" fill="hold">
                      <p:stCondLst>
                        <p:cond delay="indefinite"/>
                        <p:cond evt="onBegin" delay="0">
                          <p:tn val="2"/>
                        </p:cond>
                      </p:stCondLst>
                      <p:childTnLst>
                        <p:par>
                          <p:cTn id="24" fill="hold">
                            <p:stCondLst>
                              <p:cond delay="0"/>
                            </p:stCondLst>
                            <p:childTnLst>
                              <p:par>
                                <p:cTn id="6" fill="hold">
                                  <p:stCondLst>
                                    <p:cond delay="0"/>
                                  </p:stCondLst>
                                  <p:childTnLst>
                                    <p:par>
                                      <p:cTn id="3" presetID="2" presetClass="entr" presetSubtype="1" fill="hold" grpId="0" nodeType="afterEffect">
                                        <p:stCondLst>
                                          <p:cond delay="0"/>
                                        </p:stCondLst>
                                        <p:childTnLst>
                                          <p:set>
                                            <p:cBhvr>
                                              <p:cTn id="4" dur="1" fill="hold">
                                                <p:stCondLst>
                                                  <p:cond delay="0"/>
                                                </p:stCondLst>
                                              </p:cTn>
                                              <p:tgtEl>
                                                <p:spTgt spid="7"/>
                                              </p:tgtEl>
                                              <p:attrNameLst>
                                                <p:attrName>style.visibility</p:attrName>
                                              </p:attrNameLst>
                                            </p:cBhvr>
                                            <p:to>
                                              <p:strVal val="visible"/>
                                            </p:to>
                                          </p:set>
                                          <p:anim calcmode="lin" valueType="num">
                                            <p:cBhvr additive="base">
                                              <p:cTn id="5" dur="700" fill="hold"/>
                                              <p:tgtEl>
                                                <p:spTgt spid="7"/>
                                              </p:tgtEl>
                                              <p:attrNameLst>
                                                <p:attrName>ppt_y</p:attrName>
                                              </p:attrNameLst>
                                            </p:cBhvr>
                                            <p:tavLst>
                                              <p:tav tm="0">
                                                <p:val>
                                                  <p:strVal val="0-#ppt_h/2"/>
                                                </p:val>
                                              </p:tav>
                                              <p:tav tm="100000">
                                                <p:val>
                                                  <p:strVal val="#ppt_y"/>
                                                </p:val>
                                              </p:tav>
                                            </p:tavLst>
                                          </p:anim>
                                        </p:childTnLst>
                                      </p:cTn>
                                    </p:par>
                                  </p:childTnLst>
                                </p:cTn>
                              </p:par>
                              <p:par>
                                <p:cTn id="10" fill="hold">
                                  <p:stCondLst>
                                    <p:cond delay="170"/>
                                  </p:stCondLst>
                                  <p:childTnLst>
                                    <p:par>
                                      <p:cTn id="7" presetID="2" presetClass="entr" presetSubtype="1" fill="hold" grpId="0" nodeType="after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700" fill="hold"/>
                                              <p:tgtEl>
                                                <p:spTgt spid="8"/>
                                              </p:tgtEl>
                                              <p:attrNameLst>
                                                <p:attrName>ppt_y</p:attrName>
                                              </p:attrNameLst>
                                            </p:cBhvr>
                                            <p:tavLst>
                                              <p:tav tm="0">
                                                <p:val>
                                                  <p:strVal val="0-#ppt_h/2"/>
                                                </p:val>
                                              </p:tav>
                                              <p:tav tm="100000">
                                                <p:val>
                                                  <p:strVal val="#ppt_y"/>
                                                </p:val>
                                              </p:tav>
                                            </p:tavLst>
                                          </p:anim>
                                        </p:childTnLst>
                                      </p:cTn>
                                    </p:par>
                                  </p:childTnLst>
                                </p:cTn>
                              </p:par>
                              <p:par>
                                <p:cTn id="14" fill="hold">
                                  <p:stCondLst>
                                    <p:cond delay="340"/>
                                  </p:stCondLst>
                                  <p:childTnLst>
                                    <p:par>
                                      <p:cTn id="11" presetID="2" presetClass="entr" presetSubtype="1" fill="hold" grpId="0" nodeType="afterEffect">
                                        <p:stCondLst>
                                          <p:cond delay="0"/>
                                        </p:stCondLst>
                                        <p:childTnLst>
                                          <p:set>
                                            <p:cBhvr>
                                              <p:cTn id="12" dur="1" fill="hold">
                                                <p:stCondLst>
                                                  <p:cond delay="0"/>
                                                </p:stCondLst>
                                              </p:cTn>
                                              <p:tgtEl>
                                                <p:spTgt spid="9"/>
                                              </p:tgtEl>
                                              <p:attrNameLst>
                                                <p:attrName>style.visibility</p:attrName>
                                              </p:attrNameLst>
                                            </p:cBhvr>
                                            <p:to>
                                              <p:strVal val="visible"/>
                                            </p:to>
                                          </p:set>
                                          <p:anim calcmode="lin" valueType="num">
                                            <p:cBhvr additive="base">
                                              <p:cTn id="13" dur="700" fill="hold"/>
                                              <p:tgtEl>
                                                <p:spTgt spid="9"/>
                                              </p:tgtEl>
                                              <p:attrNameLst>
                                                <p:attrName>ppt_y</p:attrName>
                                              </p:attrNameLst>
                                            </p:cBhvr>
                                            <p:tavLst>
                                              <p:tav tm="0">
                                                <p:val>
                                                  <p:strVal val="0-#ppt_h/2"/>
                                                </p:val>
                                              </p:tav>
                                              <p:tav tm="100000">
                                                <p:val>
                                                  <p:strVal val="#ppt_y"/>
                                                </p:val>
                                              </p:tav>
                                            </p:tavLst>
                                          </p:anim>
                                        </p:childTnLst>
                                      </p:cTn>
                                    </p:par>
                                  </p:childTnLst>
                                </p:cTn>
                              </p:par>
                              <p:par>
                                <p:cTn id="18" fill="hold">
                                  <p:stCondLst>
                                    <p:cond delay="510"/>
                                  </p:stCondLst>
                                  <p:childTnLst>
                                    <p:par>
                                      <p:cTn id="15" presetID="2" presetClass="entr" presetSubtype="4" fill="hold" grpId="0" nodeType="after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700" fill="hold"/>
                                              <p:tgtEl>
                                                <p:spTgt spid="10"/>
                                              </p:tgtEl>
                                              <p:attrNameLst>
                                                <p:attrName>ppt_y</p:attrName>
                                              </p:attrNameLst>
                                            </p:cBhvr>
                                            <p:tavLst>
                                              <p:tav tm="0">
                                                <p:val>
                                                  <p:strVal val="1+#ppt_h/2"/>
                                                </p:val>
                                              </p:tav>
                                              <p:tav tm="100000">
                                                <p:val>
                                                  <p:strVal val="#ppt_y"/>
                                                </p:val>
                                              </p:tav>
                                            </p:tavLst>
                                          </p:anim>
                                        </p:childTnLst>
                                      </p:cTn>
                                    </p:par>
                                  </p:childTnLst>
                                </p:cTn>
                              </p:par>
                              <p:par>
                                <p:cTn id="22" fill="hold">
                                  <p:stCondLst>
                                    <p:cond delay="680"/>
                                  </p:stCondLst>
                                  <p:childTnLst>
                                    <p:par>
                                      <p:cTn id="19" presetID="2" presetClass="entr" presetSubtype="8" fill="hold" grpId="0" nodeType="afterEffect">
                                        <p:stCondLst>
                                          <p:cond delay="0"/>
                                        </p:stCondLst>
                                        <p:childTnLst>
                                          <p:set>
                                            <p:cBhvr>
                                              <p:cTn id="20" dur="1" fill="hold">
                                                <p:stCondLst>
                                                  <p:cond delay="0"/>
                                                </p:stCondLst>
                                              </p:cTn>
                                              <p:tgtEl>
                                                <p:spTgt spid="11"/>
                                              </p:tgtEl>
                                              <p:attrNameLst>
                                                <p:attrName>style.visibility</p:attrName>
                                              </p:attrNameLst>
                                            </p:cBhvr>
                                            <p:to>
                                              <p:strVal val="visible"/>
                                            </p:to>
                                          </p:set>
                                          <p:anim calcmode="lin" valueType="num">
                                            <p:cBhvr additive="base">
                                              <p:cTn id="21" dur="700" fill="hold"/>
                                              <p:tgtEl>
                                                <p:spTgt spid="11"/>
                                              </p:tgtEl>
                                              <p:attrNameLst>
                                                <p:attrName>ppt_x</p:attrName>
                                              </p:attrNameLst>
                                            </p:cBhvr>
                                            <p:tavLst>
                                              <p:tav tm="0">
                                                <p:val>
                                                  <p:strVal val="0-#ppt_w/2"/>
                                                </p:val>
                                              </p:tav>
                                              <p:tav tm="100000">
                                                <p:val>
                                                  <p:strVal val="#ppt_x"/>
                                                </p:val>
                                              </p:tav>
                                            </p:tavLst>
                                          </p:anim>
                                        </p:childTnLst>
                                      </p:cTn>
                                    </p:par>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Label"/>
          <p:cNvSpPr txBox="1"/>
          <p:nvPr/>
        </p:nvSpPr>
        <p:spPr>
          <a:xfrm>
            <a:off x="640080" y="411480"/>
            <a:ext cx="8229600" cy="365760"/>
          </a:xfrm>
          <a:prstGeom prst="rect">
            <a:avLst/>
          </a:prstGeom>
          <a:noFill/>
        </p:spPr>
        <p:txBody>
          <a:bodyPr wrap="square" anchor="t" lIns="0" rIns="0" tIns="0" bIns="0">
            <a:spAutoFit/>
          </a:bodyPr>
          <a:lstStyle/>
          <a:p>
            <a:pPr algn="l"/>
            <a:r>
              <a:rPr sz="1200" b="1">
                <a:solidFill>
                  <a:srgbClr val="E9B44C"/>
                </a:solidFill>
                <a:latin typeface="Calibri"/>
              </a:rPr>
              <a:t>05 · WIRTSCHAFT</a:t>
            </a:r>
          </a:p>
        </p:txBody>
      </p:sp>
      <p:sp>
        <p:nvSpPr>
          <p:cNvPr id="3" name="Titel"/>
          <p:cNvSpPr txBox="1"/>
          <p:nvPr/>
        </p:nvSpPr>
        <p:spPr>
          <a:xfrm>
            <a:off x="640080" y="731520"/>
            <a:ext cx="10881360" cy="868680"/>
          </a:xfrm>
          <a:prstGeom prst="rect">
            <a:avLst/>
          </a:prstGeom>
          <a:noFill/>
        </p:spPr>
        <p:txBody>
          <a:bodyPr wrap="square" anchor="t" lIns="0" rIns="0" tIns="0" bIns="0">
            <a:spAutoFit/>
          </a:bodyPr>
          <a:lstStyle/>
          <a:p>
            <a:pPr algn="l"/>
            <a:r>
              <a:rPr sz="3600" b="1">
                <a:solidFill>
                  <a:srgbClr val="F5F7FA"/>
                </a:solidFill>
                <a:latin typeface="Calibri"/>
              </a:rPr>
              <a:t>Mehr als Rinder und Weizen</a:t>
            </a:r>
          </a:p>
        </p:txBody>
      </p:sp>
      <p:sp>
        <p:nvSpPr>
          <p:cNvPr id="4" name="Linie"/>
          <p:cNvSpPr/>
          <p:nvPr/>
        </p:nvSpPr>
        <p:spPr>
          <a:xfrm>
            <a:off x="640080" y="1627632"/>
            <a:ext cx="1005840" cy="45720"/>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usszeile"/>
          <p:cNvSpPr txBox="1"/>
          <p:nvPr/>
        </p:nvSpPr>
        <p:spPr>
          <a:xfrm>
            <a:off x="640080" y="6355080"/>
            <a:ext cx="5486400" cy="274320"/>
          </a:xfrm>
          <a:prstGeom prst="rect">
            <a:avLst/>
          </a:prstGeom>
          <a:noFill/>
        </p:spPr>
        <p:txBody>
          <a:bodyPr wrap="square" anchor="t" lIns="0" rIns="0" tIns="0" bIns="0">
            <a:spAutoFit/>
          </a:bodyPr>
          <a:lstStyle/>
          <a:p>
            <a:pPr algn="l"/>
            <a:r>
              <a:rPr sz="1000" b="0">
                <a:solidFill>
                  <a:srgbClr val="9AA8BF"/>
                </a:solidFill>
                <a:latin typeface="Calibri"/>
              </a:rPr>
              <a:t>Montana · Präsentation</a:t>
            </a:r>
          </a:p>
        </p:txBody>
      </p:sp>
      <p:sp>
        <p:nvSpPr>
          <p:cNvPr id="6" name="Seitenzahl"/>
          <p:cNvSpPr txBox="1"/>
          <p:nvPr/>
        </p:nvSpPr>
        <p:spPr>
          <a:xfrm>
            <a:off x="10881360" y="6355080"/>
            <a:ext cx="685800" cy="274320"/>
          </a:xfrm>
          <a:prstGeom prst="rect">
            <a:avLst/>
          </a:prstGeom>
          <a:noFill/>
        </p:spPr>
        <p:txBody>
          <a:bodyPr wrap="square" anchor="t" lIns="0" rIns="0" tIns="0" bIns="0">
            <a:spAutoFit/>
          </a:bodyPr>
          <a:lstStyle/>
          <a:p>
            <a:pPr algn="r"/>
            <a:r>
              <a:rPr sz="1000" b="0">
                <a:solidFill>
                  <a:srgbClr val="9AA8BF"/>
                </a:solidFill>
                <a:latin typeface="Calibri"/>
              </a:rPr>
              <a:t>6</a:t>
            </a:r>
          </a:p>
        </p:txBody>
      </p:sp>
      <p:pic>
        <p:nvPicPr>
          <p:cNvPr id="7" name="Bild_Farm" descr="farm-usgs.jpg"/>
          <p:cNvPicPr>
            <a:picLocks noChangeAspect="1"/>
          </p:cNvPicPr>
          <p:nvPr/>
        </p:nvPicPr>
        <p:blipFill>
          <a:blip r:embed="rId2"/>
          <a:srcRect l="1163" r="1163"/>
          <a:stretch>
            <a:fillRect/>
          </a:stretch>
        </p:blipFill>
        <p:spPr>
          <a:xfrm>
            <a:off x="640080" y="2011680"/>
            <a:ext cx="5120640" cy="3931920"/>
          </a:xfrm>
          <a:prstGeom prst="rect">
            <a:avLst/>
          </a:prstGeom>
        </p:spPr>
      </p:pic>
      <p:sp>
        <p:nvSpPr>
          <p:cNvPr id="8" name="Karte1"/>
          <p:cNvSpPr/>
          <p:nvPr/>
        </p:nvSpPr>
        <p:spPr>
          <a:xfrm>
            <a:off x="6217920" y="2011680"/>
            <a:ext cx="5303520" cy="1188720"/>
          </a:xfrm>
          <a:prstGeom prst="roundRect">
            <a:avLst>
              <a:gd name="adj" fmla="val 8000"/>
            </a:avLst>
          </a:prstGeom>
          <a:solidFill>
            <a:srgbClr val="141E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37160" bIns="137160"/>
          <a:lstStyle/>
          <a:p>
            <a:pPr algn="l">
              <a:spcAft>
                <a:spcPts val="400"/>
              </a:spcAft>
            </a:pPr>
            <a:r>
              <a:rPr sz="2000" b="1">
                <a:solidFill>
                  <a:srgbClr val="F5F7FA"/>
                </a:solidFill>
                <a:latin typeface="Calibri"/>
              </a:rPr>
              <a:t>Landwirtschaft</a:t>
            </a:r>
          </a:p>
          <a:p>
            <a:pPr algn="l"/>
            <a:r>
              <a:rPr sz="1500" b="0">
                <a:solidFill>
                  <a:srgbClr val="9AA8BF"/>
                </a:solidFill>
                <a:latin typeface="Calibri"/>
              </a:rPr>
              <a:t>Rinder- und Getreideanbau, rund 28.000 Farmen</a:t>
            </a:r>
          </a:p>
        </p:txBody>
      </p:sp>
      <p:sp>
        <p:nvSpPr>
          <p:cNvPr id="9" name="Karte2"/>
          <p:cNvSpPr/>
          <p:nvPr/>
        </p:nvSpPr>
        <p:spPr>
          <a:xfrm>
            <a:off x="6217920" y="3383280"/>
            <a:ext cx="5303520" cy="1188720"/>
          </a:xfrm>
          <a:prstGeom prst="roundRect">
            <a:avLst>
              <a:gd name="adj" fmla="val 8000"/>
            </a:avLst>
          </a:prstGeom>
          <a:solidFill>
            <a:srgbClr val="141E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37160" bIns="137160"/>
          <a:lstStyle/>
          <a:p>
            <a:pPr algn="l">
              <a:spcAft>
                <a:spcPts val="400"/>
              </a:spcAft>
            </a:pPr>
            <a:r>
              <a:rPr sz="2000" b="1">
                <a:solidFill>
                  <a:srgbClr val="F5F7FA"/>
                </a:solidFill>
                <a:latin typeface="Calibri"/>
              </a:rPr>
              <a:t>Bergbau &amp; Energie</a:t>
            </a:r>
          </a:p>
          <a:p>
            <a:pPr algn="l"/>
            <a:r>
              <a:rPr sz="1500" b="0">
                <a:solidFill>
                  <a:srgbClr val="9AA8BF"/>
                </a:solidFill>
                <a:latin typeface="Calibri"/>
              </a:rPr>
              <a:t>Öl, Gas, Kohle und Metalle</a:t>
            </a:r>
          </a:p>
        </p:txBody>
      </p:sp>
      <p:sp>
        <p:nvSpPr>
          <p:cNvPr id="10" name="Karte3"/>
          <p:cNvSpPr/>
          <p:nvPr/>
        </p:nvSpPr>
        <p:spPr>
          <a:xfrm>
            <a:off x="6217920" y="4754880"/>
            <a:ext cx="5303520" cy="1188720"/>
          </a:xfrm>
          <a:prstGeom prst="roundRect">
            <a:avLst>
              <a:gd name="adj" fmla="val 8000"/>
            </a:avLst>
          </a:prstGeom>
          <a:solidFill>
            <a:srgbClr val="141E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37160" bIns="137160"/>
          <a:lstStyle/>
          <a:p>
            <a:pPr algn="l">
              <a:spcAft>
                <a:spcPts val="400"/>
              </a:spcAft>
            </a:pPr>
            <a:r>
              <a:rPr sz="2000" b="1">
                <a:solidFill>
                  <a:srgbClr val="F5F7FA"/>
                </a:solidFill>
                <a:latin typeface="Calibri"/>
              </a:rPr>
              <a:t>Tourismus</a:t>
            </a:r>
          </a:p>
          <a:p>
            <a:pPr algn="l"/>
            <a:r>
              <a:rPr sz="1500" b="0">
                <a:solidFill>
                  <a:srgbClr val="9AA8BF"/>
                </a:solidFill>
                <a:latin typeface="Calibri"/>
              </a:rPr>
              <a:t>13,7 Mio. Besucher 2024, so viele wie nie</a:t>
            </a:r>
          </a:p>
        </p:txBody>
      </p:sp>
      <p:sp>
        <p:nvSpPr>
          <p:cNvPr id="11" name="Kennzahl"/>
          <p:cNvSpPr txBox="1"/>
          <p:nvPr/>
        </p:nvSpPr>
        <p:spPr>
          <a:xfrm>
            <a:off x="6217920" y="6035040"/>
            <a:ext cx="5303520" cy="320040"/>
          </a:xfrm>
          <a:prstGeom prst="rect">
            <a:avLst/>
          </a:prstGeom>
          <a:noFill/>
        </p:spPr>
        <p:txBody>
          <a:bodyPr wrap="square" anchor="t" lIns="0" rIns="0" tIns="0" bIns="0">
            <a:spAutoFit/>
          </a:bodyPr>
          <a:lstStyle/>
          <a:p>
            <a:pPr algn="l"/>
            <a:r>
              <a:rPr sz="1300" b="1">
                <a:solidFill>
                  <a:srgbClr val="5EC4B6"/>
                </a:solidFill>
                <a:latin typeface="Calibri"/>
              </a:rPr>
              <a:t>BIP 2025: rund 82,3 Mrd. USD (BEA)</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1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23" fill="hold">
                      <p:stCondLst>
                        <p:cond delay="indefinite"/>
                        <p:cond evt="onBegin" delay="0">
                          <p:tn val="2"/>
                        </p:cond>
                      </p:stCondLst>
                      <p:childTnLst>
                        <p:par>
                          <p:cTn id="24" fill="hold">
                            <p:stCondLst>
                              <p:cond delay="0"/>
                            </p:stCondLst>
                            <p:childTnLst>
                              <p:par>
                                <p:cTn id="6" fill="hold">
                                  <p:stCondLst>
                                    <p:cond delay="0"/>
                                  </p:stCondLst>
                                  <p:childTnLst>
                                    <p:par>
                                      <p:cTn id="3" presetID="2" presetClass="entr" presetSubtype="1" fill="hold" grpId="0" nodeType="afterEffect">
                                        <p:stCondLst>
                                          <p:cond delay="0"/>
                                        </p:stCondLst>
                                        <p:childTnLst>
                                          <p:set>
                                            <p:cBhvr>
                                              <p:cTn id="4" dur="1" fill="hold">
                                                <p:stCondLst>
                                                  <p:cond delay="0"/>
                                                </p:stCondLst>
                                              </p:cTn>
                                              <p:tgtEl>
                                                <p:spTgt spid="7"/>
                                              </p:tgtEl>
                                              <p:attrNameLst>
                                                <p:attrName>style.visibility</p:attrName>
                                              </p:attrNameLst>
                                            </p:cBhvr>
                                            <p:to>
                                              <p:strVal val="visible"/>
                                            </p:to>
                                          </p:set>
                                          <p:anim calcmode="lin" valueType="num">
                                            <p:cBhvr additive="base">
                                              <p:cTn id="5" dur="700" fill="hold"/>
                                              <p:tgtEl>
                                                <p:spTgt spid="7"/>
                                              </p:tgtEl>
                                              <p:attrNameLst>
                                                <p:attrName>ppt_y</p:attrName>
                                              </p:attrNameLst>
                                            </p:cBhvr>
                                            <p:tavLst>
                                              <p:tav tm="0">
                                                <p:val>
                                                  <p:strVal val="0-#ppt_h/2"/>
                                                </p:val>
                                              </p:tav>
                                              <p:tav tm="100000">
                                                <p:val>
                                                  <p:strVal val="#ppt_y"/>
                                                </p:val>
                                              </p:tav>
                                            </p:tavLst>
                                          </p:anim>
                                        </p:childTnLst>
                                      </p:cTn>
                                    </p:par>
                                  </p:childTnLst>
                                </p:cTn>
                              </p:par>
                              <p:par>
                                <p:cTn id="10" fill="hold">
                                  <p:stCondLst>
                                    <p:cond delay="170"/>
                                  </p:stCondLst>
                                  <p:childTnLst>
                                    <p:par>
                                      <p:cTn id="7" presetID="2" presetClass="entr" presetSubtype="8" fill="hold" grpId="0" nodeType="after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700" fill="hold"/>
                                              <p:tgtEl>
                                                <p:spTgt spid="8"/>
                                              </p:tgtEl>
                                              <p:attrNameLst>
                                                <p:attrName>ppt_x</p:attrName>
                                              </p:attrNameLst>
                                            </p:cBhvr>
                                            <p:tavLst>
                                              <p:tav tm="0">
                                                <p:val>
                                                  <p:strVal val="0-#ppt_w/2"/>
                                                </p:val>
                                              </p:tav>
                                              <p:tav tm="100000">
                                                <p:val>
                                                  <p:strVal val="#ppt_x"/>
                                                </p:val>
                                              </p:tav>
                                            </p:tavLst>
                                          </p:anim>
                                        </p:childTnLst>
                                      </p:cTn>
                                    </p:par>
                                  </p:childTnLst>
                                </p:cTn>
                              </p:par>
                              <p:par>
                                <p:cTn id="14" fill="hold">
                                  <p:stCondLst>
                                    <p:cond delay="340"/>
                                  </p:stCondLst>
                                  <p:childTnLst>
                                    <p:par>
                                      <p:cTn id="11" presetID="2" presetClass="entr" presetSubtype="1" fill="hold" grpId="0" nodeType="afterEffect">
                                        <p:stCondLst>
                                          <p:cond delay="0"/>
                                        </p:stCondLst>
                                        <p:childTnLst>
                                          <p:set>
                                            <p:cBhvr>
                                              <p:cTn id="12" dur="1" fill="hold">
                                                <p:stCondLst>
                                                  <p:cond delay="0"/>
                                                </p:stCondLst>
                                              </p:cTn>
                                              <p:tgtEl>
                                                <p:spTgt spid="9"/>
                                              </p:tgtEl>
                                              <p:attrNameLst>
                                                <p:attrName>style.visibility</p:attrName>
                                              </p:attrNameLst>
                                            </p:cBhvr>
                                            <p:to>
                                              <p:strVal val="visible"/>
                                            </p:to>
                                          </p:set>
                                          <p:anim calcmode="lin" valueType="num">
                                            <p:cBhvr additive="base">
                                              <p:cTn id="13" dur="700" fill="hold"/>
                                              <p:tgtEl>
                                                <p:spTgt spid="9"/>
                                              </p:tgtEl>
                                              <p:attrNameLst>
                                                <p:attrName>ppt_y</p:attrName>
                                              </p:attrNameLst>
                                            </p:cBhvr>
                                            <p:tavLst>
                                              <p:tav tm="0">
                                                <p:val>
                                                  <p:strVal val="0-#ppt_h/2"/>
                                                </p:val>
                                              </p:tav>
                                              <p:tav tm="100000">
                                                <p:val>
                                                  <p:strVal val="#ppt_y"/>
                                                </p:val>
                                              </p:tav>
                                            </p:tavLst>
                                          </p:anim>
                                        </p:childTnLst>
                                      </p:cTn>
                                    </p:par>
                                  </p:childTnLst>
                                </p:cTn>
                              </p:par>
                              <p:par>
                                <p:cTn id="18" fill="hold">
                                  <p:stCondLst>
                                    <p:cond delay="510"/>
                                  </p:stCondLst>
                                  <p:childTnLst>
                                    <p:par>
                                      <p:cTn id="15" presetID="2" presetClass="entr" presetSubtype="1" fill="hold" grpId="0" nodeType="after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700" fill="hold"/>
                                              <p:tgtEl>
                                                <p:spTgt spid="10"/>
                                              </p:tgtEl>
                                              <p:attrNameLst>
                                                <p:attrName>ppt_y</p:attrName>
                                              </p:attrNameLst>
                                            </p:cBhvr>
                                            <p:tavLst>
                                              <p:tav tm="0">
                                                <p:val>
                                                  <p:strVal val="0-#ppt_h/2"/>
                                                </p:val>
                                              </p:tav>
                                              <p:tav tm="100000">
                                                <p:val>
                                                  <p:strVal val="#ppt_y"/>
                                                </p:val>
                                              </p:tav>
                                            </p:tavLst>
                                          </p:anim>
                                        </p:childTnLst>
                                      </p:cTn>
                                    </p:par>
                                  </p:childTnLst>
                                </p:cTn>
                              </p:par>
                              <p:par>
                                <p:cTn id="22" fill="hold">
                                  <p:stCondLst>
                                    <p:cond delay="680"/>
                                  </p:stCondLst>
                                  <p:childTnLst>
                                    <p:par>
                                      <p:cTn id="19" presetID="2" presetClass="entr" presetSubtype="4" fill="hold" grpId="0" nodeType="afterEffect">
                                        <p:stCondLst>
                                          <p:cond delay="0"/>
                                        </p:stCondLst>
                                        <p:childTnLst>
                                          <p:set>
                                            <p:cBhvr>
                                              <p:cTn id="20" dur="1" fill="hold">
                                                <p:stCondLst>
                                                  <p:cond delay="0"/>
                                                </p:stCondLst>
                                              </p:cTn>
                                              <p:tgtEl>
                                                <p:spTgt spid="11"/>
                                              </p:tgtEl>
                                              <p:attrNameLst>
                                                <p:attrName>style.visibility</p:attrName>
                                              </p:attrNameLst>
                                            </p:cBhvr>
                                            <p:to>
                                              <p:strVal val="visible"/>
                                            </p:to>
                                          </p:set>
                                          <p:anim calcmode="lin" valueType="num">
                                            <p:cBhvr additive="base">
                                              <p:cTn id="21" dur="7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Label"/>
          <p:cNvSpPr txBox="1"/>
          <p:nvPr/>
        </p:nvSpPr>
        <p:spPr>
          <a:xfrm>
            <a:off x="640080" y="411480"/>
            <a:ext cx="8229600" cy="365760"/>
          </a:xfrm>
          <a:prstGeom prst="rect">
            <a:avLst/>
          </a:prstGeom>
          <a:noFill/>
        </p:spPr>
        <p:txBody>
          <a:bodyPr wrap="square" anchor="t" lIns="0" rIns="0" tIns="0" bIns="0">
            <a:spAutoFit/>
          </a:bodyPr>
          <a:lstStyle/>
          <a:p>
            <a:pPr algn="l"/>
            <a:r>
              <a:rPr sz="1200" b="1">
                <a:solidFill>
                  <a:srgbClr val="E9B44C"/>
                </a:solidFill>
                <a:latin typeface="Calibri"/>
              </a:rPr>
              <a:t>06 · KULTUR</a:t>
            </a:r>
          </a:p>
        </p:txBody>
      </p:sp>
      <p:sp>
        <p:nvSpPr>
          <p:cNvPr id="3" name="Titel"/>
          <p:cNvSpPr txBox="1"/>
          <p:nvPr/>
        </p:nvSpPr>
        <p:spPr>
          <a:xfrm>
            <a:off x="640080" y="731520"/>
            <a:ext cx="10881360" cy="868680"/>
          </a:xfrm>
          <a:prstGeom prst="rect">
            <a:avLst/>
          </a:prstGeom>
          <a:noFill/>
        </p:spPr>
        <p:txBody>
          <a:bodyPr wrap="square" anchor="t" lIns="0" rIns="0" tIns="0" bIns="0">
            <a:spAutoFit/>
          </a:bodyPr>
          <a:lstStyle/>
          <a:p>
            <a:pPr algn="l"/>
            <a:r>
              <a:rPr sz="3600" b="1">
                <a:solidFill>
                  <a:srgbClr val="F5F7FA"/>
                </a:solidFill>
                <a:latin typeface="Calibri"/>
              </a:rPr>
              <a:t>Viele Kulturen, eine Landschaft</a:t>
            </a:r>
          </a:p>
        </p:txBody>
      </p:sp>
      <p:sp>
        <p:nvSpPr>
          <p:cNvPr id="4" name="Linie"/>
          <p:cNvSpPr/>
          <p:nvPr/>
        </p:nvSpPr>
        <p:spPr>
          <a:xfrm>
            <a:off x="640080" y="1627632"/>
            <a:ext cx="1005840" cy="45720"/>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usszeile"/>
          <p:cNvSpPr txBox="1"/>
          <p:nvPr/>
        </p:nvSpPr>
        <p:spPr>
          <a:xfrm>
            <a:off x="640080" y="6355080"/>
            <a:ext cx="5486400" cy="274320"/>
          </a:xfrm>
          <a:prstGeom prst="rect">
            <a:avLst/>
          </a:prstGeom>
          <a:noFill/>
        </p:spPr>
        <p:txBody>
          <a:bodyPr wrap="square" anchor="t" lIns="0" rIns="0" tIns="0" bIns="0">
            <a:spAutoFit/>
          </a:bodyPr>
          <a:lstStyle/>
          <a:p>
            <a:pPr algn="l"/>
            <a:r>
              <a:rPr sz="1000" b="0">
                <a:solidFill>
                  <a:srgbClr val="9AA8BF"/>
                </a:solidFill>
                <a:latin typeface="Calibri"/>
              </a:rPr>
              <a:t>Montana · Präsentation</a:t>
            </a:r>
          </a:p>
        </p:txBody>
      </p:sp>
      <p:sp>
        <p:nvSpPr>
          <p:cNvPr id="6" name="Seitenzahl"/>
          <p:cNvSpPr txBox="1"/>
          <p:nvPr/>
        </p:nvSpPr>
        <p:spPr>
          <a:xfrm>
            <a:off x="10881360" y="6355080"/>
            <a:ext cx="685800" cy="274320"/>
          </a:xfrm>
          <a:prstGeom prst="rect">
            <a:avLst/>
          </a:prstGeom>
          <a:noFill/>
        </p:spPr>
        <p:txBody>
          <a:bodyPr wrap="square" anchor="t" lIns="0" rIns="0" tIns="0" bIns="0">
            <a:spAutoFit/>
          </a:bodyPr>
          <a:lstStyle/>
          <a:p>
            <a:pPr algn="r"/>
            <a:r>
              <a:rPr sz="1000" b="0">
                <a:solidFill>
                  <a:srgbClr val="9AA8BF"/>
                </a:solidFill>
                <a:latin typeface="Calibri"/>
              </a:rPr>
              <a:t>7</a:t>
            </a:r>
          </a:p>
        </p:txBody>
      </p:sp>
      <p:sp>
        <p:nvSpPr>
          <p:cNvPr id="7" name="Karte1"/>
          <p:cNvSpPr/>
          <p:nvPr/>
        </p:nvSpPr>
        <p:spPr>
          <a:xfrm>
            <a:off x="640080" y="2011680"/>
            <a:ext cx="10881360" cy="1188720"/>
          </a:xfrm>
          <a:prstGeom prst="roundRect">
            <a:avLst>
              <a:gd name="adj" fmla="val 8000"/>
            </a:avLst>
          </a:prstGeom>
          <a:solidFill>
            <a:srgbClr val="141E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320040" tIns="192024" bIns="192024"/>
          <a:lstStyle/>
          <a:p>
            <a:pPr algn="l">
              <a:spcAft>
                <a:spcPts val="400"/>
              </a:spcAft>
            </a:pPr>
            <a:r>
              <a:rPr sz="2200" b="1">
                <a:solidFill>
                  <a:srgbClr val="F5F7FA"/>
                </a:solidFill>
                <a:latin typeface="Calibri"/>
              </a:rPr>
              <a:t>11 Stammesnationen</a:t>
            </a:r>
          </a:p>
          <a:p>
            <a:pPr algn="l"/>
            <a:r>
              <a:rPr sz="1600" b="0">
                <a:solidFill>
                  <a:srgbClr val="9AA8BF"/>
                </a:solidFill>
                <a:latin typeface="Calibri"/>
              </a:rPr>
              <a:t>leben auf sieben Reservaten in Montana. Die Little Shell Band of Chippewa hat kein eigenes Land.</a:t>
            </a:r>
          </a:p>
        </p:txBody>
      </p:sp>
      <p:sp>
        <p:nvSpPr>
          <p:cNvPr id="8" name="Akzent1"/>
          <p:cNvSpPr/>
          <p:nvPr/>
        </p:nvSpPr>
        <p:spPr>
          <a:xfrm>
            <a:off x="640080" y="2240280"/>
            <a:ext cx="73152" cy="731520"/>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Karte2"/>
          <p:cNvSpPr/>
          <p:nvPr/>
        </p:nvSpPr>
        <p:spPr>
          <a:xfrm>
            <a:off x="640080" y="3429000"/>
            <a:ext cx="10881360" cy="1188720"/>
          </a:xfrm>
          <a:prstGeom prst="roundRect">
            <a:avLst>
              <a:gd name="adj" fmla="val 8000"/>
            </a:avLst>
          </a:prstGeom>
          <a:solidFill>
            <a:srgbClr val="141E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320040" tIns="192024" bIns="192024"/>
          <a:lstStyle/>
          <a:p>
            <a:pPr algn="l">
              <a:spcAft>
                <a:spcPts val="400"/>
              </a:spcAft>
            </a:pPr>
            <a:r>
              <a:rPr sz="2200" b="1">
                <a:solidFill>
                  <a:srgbClr val="F5F7FA"/>
                </a:solidFill>
                <a:latin typeface="Calibri"/>
              </a:rPr>
              <a:t>Crow Fair seit 1909</a:t>
            </a:r>
          </a:p>
          <a:p>
            <a:pPr algn="l"/>
            <a:r>
              <a:rPr sz="1600" b="0">
                <a:solidFill>
                  <a:srgbClr val="9AA8BF"/>
                </a:solidFill>
                <a:latin typeface="Calibri"/>
              </a:rPr>
              <a:t>eines der größten indigenen Treffen Nordamerikas, mit rund 45.000 Besuchern und Teilnehmern.</a:t>
            </a:r>
          </a:p>
        </p:txBody>
      </p:sp>
      <p:sp>
        <p:nvSpPr>
          <p:cNvPr id="10" name="Akzent2"/>
          <p:cNvSpPr/>
          <p:nvPr/>
        </p:nvSpPr>
        <p:spPr>
          <a:xfrm>
            <a:off x="640080" y="3657600"/>
            <a:ext cx="73152" cy="731520"/>
          </a:xfrm>
          <a:prstGeom prst="rect">
            <a:avLst/>
          </a:prstGeom>
          <a:solidFill>
            <a:srgbClr val="5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Karte3"/>
          <p:cNvSpPr/>
          <p:nvPr/>
        </p:nvSpPr>
        <p:spPr>
          <a:xfrm>
            <a:off x="640080" y="4846320"/>
            <a:ext cx="10881360" cy="1188720"/>
          </a:xfrm>
          <a:prstGeom prst="roundRect">
            <a:avLst>
              <a:gd name="adj" fmla="val 8000"/>
            </a:avLst>
          </a:prstGeom>
          <a:solidFill>
            <a:srgbClr val="141E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20040" rIns="320040" tIns="192024" bIns="192024"/>
          <a:lstStyle/>
          <a:p>
            <a:pPr algn="l">
              <a:spcAft>
                <a:spcPts val="400"/>
              </a:spcAft>
            </a:pPr>
            <a:r>
              <a:rPr sz="2200" b="1">
                <a:solidFill>
                  <a:srgbClr val="F5F7FA"/>
                </a:solidFill>
                <a:latin typeface="Calibri"/>
              </a:rPr>
              <a:t>Charles M. Russell</a:t>
            </a:r>
          </a:p>
          <a:p>
            <a:pPr algn="l"/>
            <a:r>
              <a:rPr sz="1600" b="0">
                <a:solidFill>
                  <a:srgbClr val="9AA8BF"/>
                </a:solidFill>
                <a:latin typeface="Calibri"/>
              </a:rPr>
              <a:t>„the cowboy artist“ schuf über 2.000 Gemälde über Cowboys, Indigene und Landschaften.</a:t>
            </a:r>
          </a:p>
        </p:txBody>
      </p:sp>
      <p:sp>
        <p:nvSpPr>
          <p:cNvPr id="12" name="Akzent3"/>
          <p:cNvSpPr/>
          <p:nvPr/>
        </p:nvSpPr>
        <p:spPr>
          <a:xfrm>
            <a:off x="640080" y="5074920"/>
            <a:ext cx="73152" cy="731520"/>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1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27" fill="hold">
                      <p:stCondLst>
                        <p:cond delay="indefinite"/>
                        <p:cond evt="onBegin" delay="0">
                          <p:tn val="2"/>
                        </p:cond>
                      </p:stCondLst>
                      <p:childTnLst>
                        <p:par>
                          <p:cTn id="28" fill="hold">
                            <p:stCondLst>
                              <p:cond delay="0"/>
                            </p:stCondLst>
                            <p:childTnLst>
                              <p:par>
                                <p:cTn id="6" fill="hold">
                                  <p:stCondLst>
                                    <p:cond delay="0"/>
                                  </p:stCondLst>
                                  <p:childTnLst>
                                    <p:par>
                                      <p:cTn id="3" presetID="2" presetClass="entr" presetSubtype="2" fill="hold" grpId="0" nodeType="afterEffect">
                                        <p:stCondLst>
                                          <p:cond delay="0"/>
                                        </p:stCondLst>
                                        <p:childTnLst>
                                          <p:set>
                                            <p:cBhvr>
                                              <p:cTn id="4" dur="1" fill="hold">
                                                <p:stCondLst>
                                                  <p:cond delay="0"/>
                                                </p:stCondLst>
                                              </p:cTn>
                                              <p:tgtEl>
                                                <p:spTgt spid="7"/>
                                              </p:tgtEl>
                                              <p:attrNameLst>
                                                <p:attrName>style.visibility</p:attrName>
                                              </p:attrNameLst>
                                            </p:cBhvr>
                                            <p:to>
                                              <p:strVal val="visible"/>
                                            </p:to>
                                          </p:set>
                                          <p:anim calcmode="lin" valueType="num">
                                            <p:cBhvr additive="base">
                                              <p:cTn id="5" dur="700" fill="hold"/>
                                              <p:tgtEl>
                                                <p:spTgt spid="7"/>
                                              </p:tgtEl>
                                              <p:attrNameLst>
                                                <p:attrName>ppt_x</p:attrName>
                                              </p:attrNameLst>
                                            </p:cBhvr>
                                            <p:tavLst>
                                              <p:tav tm="0">
                                                <p:val>
                                                  <p:strVal val="1+#ppt_w/2"/>
                                                </p:val>
                                              </p:tav>
                                              <p:tav tm="100000">
                                                <p:val>
                                                  <p:strVal val="#ppt_x"/>
                                                </p:val>
                                              </p:tav>
                                            </p:tavLst>
                                          </p:anim>
                                        </p:childTnLst>
                                      </p:cTn>
                                    </p:par>
                                  </p:childTnLst>
                                </p:cTn>
                              </p:par>
                              <p:par>
                                <p:cTn id="10" fill="hold">
                                  <p:stCondLst>
                                    <p:cond delay="170"/>
                                  </p:stCondLst>
                                  <p:childTnLst>
                                    <p:par>
                                      <p:cTn id="7" presetID="2" presetClass="entr" presetSubtype="1" fill="hold" grpId="0" nodeType="after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700" fill="hold"/>
                                              <p:tgtEl>
                                                <p:spTgt spid="8"/>
                                              </p:tgtEl>
                                              <p:attrNameLst>
                                                <p:attrName>ppt_y</p:attrName>
                                              </p:attrNameLst>
                                            </p:cBhvr>
                                            <p:tavLst>
                                              <p:tav tm="0">
                                                <p:val>
                                                  <p:strVal val="0-#ppt_h/2"/>
                                                </p:val>
                                              </p:tav>
                                              <p:tav tm="100000">
                                                <p:val>
                                                  <p:strVal val="#ppt_y"/>
                                                </p:val>
                                              </p:tav>
                                            </p:tavLst>
                                          </p:anim>
                                        </p:childTnLst>
                                      </p:cTn>
                                    </p:par>
                                  </p:childTnLst>
                                </p:cTn>
                              </p:par>
                              <p:par>
                                <p:cTn id="14" fill="hold">
                                  <p:stCondLst>
                                    <p:cond delay="340"/>
                                  </p:stCondLst>
                                  <p:childTnLst>
                                    <p:par>
                                      <p:cTn id="11" presetID="2" presetClass="entr" presetSubtype="8" fill="hold" grpId="0" nodeType="afterEffect">
                                        <p:stCondLst>
                                          <p:cond delay="0"/>
                                        </p:stCondLst>
                                        <p:childTnLst>
                                          <p:set>
                                            <p:cBhvr>
                                              <p:cTn id="12" dur="1" fill="hold">
                                                <p:stCondLst>
                                                  <p:cond delay="0"/>
                                                </p:stCondLst>
                                              </p:cTn>
                                              <p:tgtEl>
                                                <p:spTgt spid="9"/>
                                              </p:tgtEl>
                                              <p:attrNameLst>
                                                <p:attrName>style.visibility</p:attrName>
                                              </p:attrNameLst>
                                            </p:cBhvr>
                                            <p:to>
                                              <p:strVal val="visible"/>
                                            </p:to>
                                          </p:set>
                                          <p:anim calcmode="lin" valueType="num">
                                            <p:cBhvr additive="base">
                                              <p:cTn id="13" dur="700" fill="hold"/>
                                              <p:tgtEl>
                                                <p:spTgt spid="9"/>
                                              </p:tgtEl>
                                              <p:attrNameLst>
                                                <p:attrName>ppt_x</p:attrName>
                                              </p:attrNameLst>
                                            </p:cBhvr>
                                            <p:tavLst>
                                              <p:tav tm="0">
                                                <p:val>
                                                  <p:strVal val="0-#ppt_w/2"/>
                                                </p:val>
                                              </p:tav>
                                              <p:tav tm="100000">
                                                <p:val>
                                                  <p:strVal val="#ppt_x"/>
                                                </p:val>
                                              </p:tav>
                                            </p:tavLst>
                                          </p:anim>
                                        </p:childTnLst>
                                      </p:cTn>
                                    </p:par>
                                  </p:childTnLst>
                                </p:cTn>
                              </p:par>
                              <p:par>
                                <p:cTn id="18" fill="hold">
                                  <p:stCondLst>
                                    <p:cond delay="510"/>
                                  </p:stCondLst>
                                  <p:childTnLst>
                                    <p:par>
                                      <p:cTn id="15" presetID="2" presetClass="entr" presetSubtype="1" fill="hold" grpId="0" nodeType="after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700" fill="hold"/>
                                              <p:tgtEl>
                                                <p:spTgt spid="10"/>
                                              </p:tgtEl>
                                              <p:attrNameLst>
                                                <p:attrName>ppt_y</p:attrName>
                                              </p:attrNameLst>
                                            </p:cBhvr>
                                            <p:tavLst>
                                              <p:tav tm="0">
                                                <p:val>
                                                  <p:strVal val="0-#ppt_h/2"/>
                                                </p:val>
                                              </p:tav>
                                              <p:tav tm="100000">
                                                <p:val>
                                                  <p:strVal val="#ppt_y"/>
                                                </p:val>
                                              </p:tav>
                                            </p:tavLst>
                                          </p:anim>
                                        </p:childTnLst>
                                      </p:cTn>
                                    </p:par>
                                  </p:childTnLst>
                                </p:cTn>
                              </p:par>
                              <p:par>
                                <p:cTn id="22" fill="hold">
                                  <p:stCondLst>
                                    <p:cond delay="680"/>
                                  </p:stCondLst>
                                  <p:childTnLst>
                                    <p:par>
                                      <p:cTn id="19" presetID="2" presetClass="entr" presetSubtype="1" fill="hold" grpId="0" nodeType="afterEffect">
                                        <p:stCondLst>
                                          <p:cond delay="0"/>
                                        </p:stCondLst>
                                        <p:childTnLst>
                                          <p:set>
                                            <p:cBhvr>
                                              <p:cTn id="20" dur="1" fill="hold">
                                                <p:stCondLst>
                                                  <p:cond delay="0"/>
                                                </p:stCondLst>
                                              </p:cTn>
                                              <p:tgtEl>
                                                <p:spTgt spid="11"/>
                                              </p:tgtEl>
                                              <p:attrNameLst>
                                                <p:attrName>style.visibility</p:attrName>
                                              </p:attrNameLst>
                                            </p:cBhvr>
                                            <p:to>
                                              <p:strVal val="visible"/>
                                            </p:to>
                                          </p:set>
                                          <p:anim calcmode="lin" valueType="num">
                                            <p:cBhvr additive="base">
                                              <p:cTn id="21" dur="700" fill="hold"/>
                                              <p:tgtEl>
                                                <p:spTgt spid="11"/>
                                              </p:tgtEl>
                                              <p:attrNameLst>
                                                <p:attrName>ppt_y</p:attrName>
                                              </p:attrNameLst>
                                            </p:cBhvr>
                                            <p:tavLst>
                                              <p:tav tm="0">
                                                <p:val>
                                                  <p:strVal val="0-#ppt_h/2"/>
                                                </p:val>
                                              </p:tav>
                                              <p:tav tm="100000">
                                                <p:val>
                                                  <p:strVal val="#ppt_y"/>
                                                </p:val>
                                              </p:tav>
                                            </p:tavLst>
                                          </p:anim>
                                        </p:childTnLst>
                                      </p:cTn>
                                    </p:par>
                                  </p:childTnLst>
                                </p:cTn>
                              </p:par>
                              <p:par>
                                <p:cTn id="26" fill="hold">
                                  <p:stCondLst>
                                    <p:cond delay="850"/>
                                  </p:stCondLst>
                                  <p:childTnLst>
                                    <p:par>
                                      <p:cTn id="23" presetID="2" presetClass="entr" presetSubtype="4" fill="hold" grpId="0" nodeType="afterEffect">
                                        <p:stCondLst>
                                          <p:cond delay="0"/>
                                        </p:stCondLst>
                                        <p:childTnLst>
                                          <p:set>
                                            <p:cBhvr>
                                              <p:cTn id="24" dur="1" fill="hold">
                                                <p:stCondLst>
                                                  <p:cond delay="0"/>
                                                </p:stCondLst>
                                              </p:cTn>
                                              <p:tgtEl>
                                                <p:spTgt spid="12"/>
                                              </p:tgtEl>
                                              <p:attrNameLst>
                                                <p:attrName>style.visibility</p:attrName>
                                              </p:attrNameLst>
                                            </p:cBhvr>
                                            <p:to>
                                              <p:strVal val="visible"/>
                                            </p:to>
                                          </p:set>
                                          <p:anim calcmode="lin" valueType="num">
                                            <p:cBhvr additive="base">
                                              <p:cTn id="25" dur="700" fill="hold"/>
                                              <p:tgtEl>
                                                <p:spTgt spid="12"/>
                                              </p:tgtEl>
                                              <p:attrNameLst>
                                                <p:attrName>ppt_y</p:attrName>
                                              </p:attrNameLst>
                                            </p:cBhvr>
                                            <p:tavLst>
                                              <p:tav tm="0">
                                                <p:val>
                                                  <p:strVal val="1+#ppt_h/2"/>
                                                </p:val>
                                              </p:tav>
                                              <p:tav tm="100000">
                                                <p:val>
                                                  <p:strVal val="#ppt_y"/>
                                                </p:val>
                                              </p:tav>
                                            </p:tavLst>
                                          </p:anim>
                                        </p:childTnLst>
                                      </p:cTn>
                                    </p:par>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Label"/>
          <p:cNvSpPr txBox="1"/>
          <p:nvPr/>
        </p:nvSpPr>
        <p:spPr>
          <a:xfrm>
            <a:off x="640080" y="411480"/>
            <a:ext cx="8229600" cy="365760"/>
          </a:xfrm>
          <a:prstGeom prst="rect">
            <a:avLst/>
          </a:prstGeom>
          <a:noFill/>
        </p:spPr>
        <p:txBody>
          <a:bodyPr wrap="square" anchor="t" lIns="0" rIns="0" tIns="0" bIns="0">
            <a:spAutoFit/>
          </a:bodyPr>
          <a:lstStyle/>
          <a:p>
            <a:pPr algn="l"/>
            <a:r>
              <a:rPr sz="1200" b="1">
                <a:solidFill>
                  <a:srgbClr val="E9B44C"/>
                </a:solidFill>
                <a:latin typeface="Calibri"/>
              </a:rPr>
              <a:t>07 · ZAHLEN</a:t>
            </a:r>
          </a:p>
        </p:txBody>
      </p:sp>
      <p:sp>
        <p:nvSpPr>
          <p:cNvPr id="3" name="Titel"/>
          <p:cNvSpPr txBox="1"/>
          <p:nvPr/>
        </p:nvSpPr>
        <p:spPr>
          <a:xfrm>
            <a:off x="640080" y="731520"/>
            <a:ext cx="10881360" cy="868680"/>
          </a:xfrm>
          <a:prstGeom prst="rect">
            <a:avLst/>
          </a:prstGeom>
          <a:noFill/>
        </p:spPr>
        <p:txBody>
          <a:bodyPr wrap="square" anchor="t" lIns="0" rIns="0" tIns="0" bIns="0">
            <a:spAutoFit/>
          </a:bodyPr>
          <a:lstStyle/>
          <a:p>
            <a:pPr algn="l"/>
            <a:r>
              <a:rPr sz="3600" b="1">
                <a:solidFill>
                  <a:srgbClr val="F5F7FA"/>
                </a:solidFill>
                <a:latin typeface="Calibri"/>
              </a:rPr>
              <a:t>Montana in Zahlen</a:t>
            </a:r>
          </a:p>
        </p:txBody>
      </p:sp>
      <p:sp>
        <p:nvSpPr>
          <p:cNvPr id="4" name="Linie"/>
          <p:cNvSpPr/>
          <p:nvPr/>
        </p:nvSpPr>
        <p:spPr>
          <a:xfrm>
            <a:off x="640080" y="1627632"/>
            <a:ext cx="1005840" cy="45720"/>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usszeile"/>
          <p:cNvSpPr txBox="1"/>
          <p:nvPr/>
        </p:nvSpPr>
        <p:spPr>
          <a:xfrm>
            <a:off x="640080" y="6355080"/>
            <a:ext cx="5486400" cy="274320"/>
          </a:xfrm>
          <a:prstGeom prst="rect">
            <a:avLst/>
          </a:prstGeom>
          <a:noFill/>
        </p:spPr>
        <p:txBody>
          <a:bodyPr wrap="square" anchor="t" lIns="0" rIns="0" tIns="0" bIns="0">
            <a:spAutoFit/>
          </a:bodyPr>
          <a:lstStyle/>
          <a:p>
            <a:pPr algn="l"/>
            <a:r>
              <a:rPr sz="1000" b="0">
                <a:solidFill>
                  <a:srgbClr val="9AA8BF"/>
                </a:solidFill>
                <a:latin typeface="Calibri"/>
              </a:rPr>
              <a:t>Montana · Präsentation</a:t>
            </a:r>
          </a:p>
        </p:txBody>
      </p:sp>
      <p:sp>
        <p:nvSpPr>
          <p:cNvPr id="6" name="Seitenzahl"/>
          <p:cNvSpPr txBox="1"/>
          <p:nvPr/>
        </p:nvSpPr>
        <p:spPr>
          <a:xfrm>
            <a:off x="10881360" y="6355080"/>
            <a:ext cx="685800" cy="274320"/>
          </a:xfrm>
          <a:prstGeom prst="rect">
            <a:avLst/>
          </a:prstGeom>
          <a:noFill/>
        </p:spPr>
        <p:txBody>
          <a:bodyPr wrap="square" anchor="t" lIns="0" rIns="0" tIns="0" bIns="0">
            <a:spAutoFit/>
          </a:bodyPr>
          <a:lstStyle/>
          <a:p>
            <a:pPr algn="r"/>
            <a:r>
              <a:rPr sz="1000" b="0">
                <a:solidFill>
                  <a:srgbClr val="9AA8BF"/>
                </a:solidFill>
                <a:latin typeface="Calibri"/>
              </a:rPr>
              <a:t>8</a:t>
            </a:r>
          </a:p>
        </p:txBody>
      </p:sp>
      <p:sp>
        <p:nvSpPr>
          <p:cNvPr id="7" name="Zahl1"/>
          <p:cNvSpPr/>
          <p:nvPr/>
        </p:nvSpPr>
        <p:spPr>
          <a:xfrm>
            <a:off x="640080" y="2377440"/>
            <a:ext cx="2560320" cy="3017520"/>
          </a:xfrm>
          <a:prstGeom prst="roundRect">
            <a:avLst>
              <a:gd name="adj" fmla="val 8000"/>
            </a:avLst>
          </a:prstGeom>
          <a:solidFill>
            <a:srgbClr val="141E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64592" bIns="164592"/>
          <a:lstStyle/>
          <a:p>
            <a:pPr algn="l">
              <a:spcAft>
                <a:spcPts val="1000"/>
              </a:spcAft>
            </a:pPr>
            <a:r>
              <a:rPr sz="3400" b="1">
                <a:solidFill>
                  <a:srgbClr val="E9B44C"/>
                </a:solidFill>
                <a:latin typeface="Calibri"/>
              </a:rPr>
              <a:t>1.144.694</a:t>
            </a:r>
          </a:p>
          <a:p>
            <a:pPr algn="l"/>
            <a:r>
              <a:rPr sz="1600" b="0">
                <a:solidFill>
                  <a:srgbClr val="F5F7FA"/>
                </a:solidFill>
                <a:latin typeface="Calibri"/>
              </a:rPr>
              <a:t>Einwohner (Schätzung 2025)</a:t>
            </a:r>
          </a:p>
        </p:txBody>
      </p:sp>
      <p:sp>
        <p:nvSpPr>
          <p:cNvPr id="8" name="Zahl2"/>
          <p:cNvSpPr/>
          <p:nvPr/>
        </p:nvSpPr>
        <p:spPr>
          <a:xfrm>
            <a:off x="3429000" y="2377440"/>
            <a:ext cx="2560320" cy="3017520"/>
          </a:xfrm>
          <a:prstGeom prst="roundRect">
            <a:avLst>
              <a:gd name="adj" fmla="val 8000"/>
            </a:avLst>
          </a:prstGeom>
          <a:solidFill>
            <a:srgbClr val="141E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64592" bIns="164592"/>
          <a:lstStyle/>
          <a:p>
            <a:pPr algn="l">
              <a:spcAft>
                <a:spcPts val="1000"/>
              </a:spcAft>
            </a:pPr>
            <a:r>
              <a:rPr sz="3400" b="1">
                <a:solidFill>
                  <a:srgbClr val="E9B44C"/>
                </a:solidFill>
                <a:latin typeface="Calibri"/>
              </a:rPr>
              <a:t>1,01 Mio.</a:t>
            </a:r>
          </a:p>
          <a:p>
            <a:pPr algn="l"/>
            <a:r>
              <a:rPr sz="1600" b="0">
                <a:solidFill>
                  <a:srgbClr val="F5F7FA"/>
                </a:solidFill>
                <a:latin typeface="Calibri"/>
              </a:rPr>
              <a:t>Acres Glacier National Park</a:t>
            </a:r>
          </a:p>
        </p:txBody>
      </p:sp>
      <p:sp>
        <p:nvSpPr>
          <p:cNvPr id="9" name="Zahl3"/>
          <p:cNvSpPr/>
          <p:nvPr/>
        </p:nvSpPr>
        <p:spPr>
          <a:xfrm>
            <a:off x="6217920" y="2377440"/>
            <a:ext cx="2560320" cy="3017520"/>
          </a:xfrm>
          <a:prstGeom prst="roundRect">
            <a:avLst>
              <a:gd name="adj" fmla="val 8000"/>
            </a:avLst>
          </a:prstGeom>
          <a:solidFill>
            <a:srgbClr val="141E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64592" bIns="164592"/>
          <a:lstStyle/>
          <a:p>
            <a:pPr algn="l">
              <a:spcAft>
                <a:spcPts val="1000"/>
              </a:spcAft>
            </a:pPr>
            <a:r>
              <a:rPr sz="3400" b="1">
                <a:solidFill>
                  <a:srgbClr val="E9B44C"/>
                </a:solidFill>
                <a:latin typeface="Calibri"/>
              </a:rPr>
              <a:t>13,7 Mio.</a:t>
            </a:r>
          </a:p>
          <a:p>
            <a:pPr algn="l"/>
            <a:r>
              <a:rPr sz="1600" b="0">
                <a:solidFill>
                  <a:srgbClr val="F5F7FA"/>
                </a:solidFill>
                <a:latin typeface="Calibri"/>
              </a:rPr>
              <a:t>Besucher im Jahr 2024</a:t>
            </a:r>
          </a:p>
        </p:txBody>
      </p:sp>
      <p:sp>
        <p:nvSpPr>
          <p:cNvPr id="10" name="Zahl4"/>
          <p:cNvSpPr/>
          <p:nvPr/>
        </p:nvSpPr>
        <p:spPr>
          <a:xfrm>
            <a:off x="9006839" y="2377440"/>
            <a:ext cx="2560320" cy="3017520"/>
          </a:xfrm>
          <a:prstGeom prst="roundRect">
            <a:avLst>
              <a:gd name="adj" fmla="val 8000"/>
            </a:avLst>
          </a:prstGeom>
          <a:solidFill>
            <a:srgbClr val="141E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74320" tIns="164592" bIns="164592"/>
          <a:lstStyle/>
          <a:p>
            <a:pPr algn="l">
              <a:spcAft>
                <a:spcPts val="1000"/>
              </a:spcAft>
            </a:pPr>
            <a:r>
              <a:rPr sz="3400" b="1">
                <a:solidFill>
                  <a:srgbClr val="E9B44C"/>
                </a:solidFill>
                <a:latin typeface="Calibri"/>
              </a:rPr>
              <a:t>41.</a:t>
            </a:r>
          </a:p>
          <a:p>
            <a:pPr algn="l"/>
            <a:r>
              <a:rPr sz="1600" b="0">
                <a:solidFill>
                  <a:srgbClr val="F5F7FA"/>
                </a:solidFill>
                <a:latin typeface="Calibri"/>
              </a:rPr>
              <a:t>Bundesstaat seit 8. November 1889</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1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19" fill="hold">
                      <p:stCondLst>
                        <p:cond delay="indefinite"/>
                        <p:cond evt="onBegin" delay="0">
                          <p:tn val="2"/>
                        </p:cond>
                      </p:stCondLst>
                      <p:childTnLst>
                        <p:par>
                          <p:cTn id="20" fill="hold">
                            <p:stCondLst>
                              <p:cond delay="0"/>
                            </p:stCondLst>
                            <p:childTnLst>
                              <p:par>
                                <p:cTn id="6" fill="hold">
                                  <p:stCondLst>
                                    <p:cond delay="0"/>
                                  </p:stCondLst>
                                  <p:childTnLst>
                                    <p:par>
                                      <p:cTn id="3" presetID="2" presetClass="entr" presetSubtype="4" fill="hold" grpId="0" nodeType="afterEffect">
                                        <p:stCondLst>
                                          <p:cond delay="0"/>
                                        </p:stCondLst>
                                        <p:childTnLst>
                                          <p:set>
                                            <p:cBhvr>
                                              <p:cTn id="4" dur="1" fill="hold">
                                                <p:stCondLst>
                                                  <p:cond delay="0"/>
                                                </p:stCondLst>
                                              </p:cTn>
                                              <p:tgtEl>
                                                <p:spTgt spid="7"/>
                                              </p:tgtEl>
                                              <p:attrNameLst>
                                                <p:attrName>style.visibility</p:attrName>
                                              </p:attrNameLst>
                                            </p:cBhvr>
                                            <p:to>
                                              <p:strVal val="visible"/>
                                            </p:to>
                                          </p:set>
                                          <p:anim calcmode="lin" valueType="num">
                                            <p:cBhvr additive="base">
                                              <p:cTn id="5" dur="700" fill="hold"/>
                                              <p:tgtEl>
                                                <p:spTgt spid="7"/>
                                              </p:tgtEl>
                                              <p:attrNameLst>
                                                <p:attrName>ppt_y</p:attrName>
                                              </p:attrNameLst>
                                            </p:cBhvr>
                                            <p:tavLst>
                                              <p:tav tm="0">
                                                <p:val>
                                                  <p:strVal val="1+#ppt_h/2"/>
                                                </p:val>
                                              </p:tav>
                                              <p:tav tm="100000">
                                                <p:val>
                                                  <p:strVal val="#ppt_y"/>
                                                </p:val>
                                              </p:tav>
                                            </p:tavLst>
                                          </p:anim>
                                        </p:childTnLst>
                                      </p:cTn>
                                    </p:par>
                                  </p:childTnLst>
                                </p:cTn>
                              </p:par>
                              <p:par>
                                <p:cTn id="10" fill="hold">
                                  <p:stCondLst>
                                    <p:cond delay="170"/>
                                  </p:stCondLst>
                                  <p:childTnLst>
                                    <p:par>
                                      <p:cTn id="7" presetID="2" presetClass="entr" presetSubtype="8" fill="hold" grpId="0" nodeType="after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700" fill="hold"/>
                                              <p:tgtEl>
                                                <p:spTgt spid="8"/>
                                              </p:tgtEl>
                                              <p:attrNameLst>
                                                <p:attrName>ppt_x</p:attrName>
                                              </p:attrNameLst>
                                            </p:cBhvr>
                                            <p:tavLst>
                                              <p:tav tm="0">
                                                <p:val>
                                                  <p:strVal val="0-#ppt_w/2"/>
                                                </p:val>
                                              </p:tav>
                                              <p:tav tm="100000">
                                                <p:val>
                                                  <p:strVal val="#ppt_x"/>
                                                </p:val>
                                              </p:tav>
                                            </p:tavLst>
                                          </p:anim>
                                        </p:childTnLst>
                                      </p:cTn>
                                    </p:par>
                                  </p:childTnLst>
                                </p:cTn>
                              </p:par>
                              <p:par>
                                <p:cTn id="14" fill="hold">
                                  <p:stCondLst>
                                    <p:cond delay="340"/>
                                  </p:stCondLst>
                                  <p:childTnLst>
                                    <p:par>
                                      <p:cTn id="11" presetID="2" presetClass="entr" presetSubtype="4" fill="hold" grpId="0" nodeType="afterEffect">
                                        <p:stCondLst>
                                          <p:cond delay="0"/>
                                        </p:stCondLst>
                                        <p:childTnLst>
                                          <p:set>
                                            <p:cBhvr>
                                              <p:cTn id="12" dur="1" fill="hold">
                                                <p:stCondLst>
                                                  <p:cond delay="0"/>
                                                </p:stCondLst>
                                              </p:cTn>
                                              <p:tgtEl>
                                                <p:spTgt spid="9"/>
                                              </p:tgtEl>
                                              <p:attrNameLst>
                                                <p:attrName>style.visibility</p:attrName>
                                              </p:attrNameLst>
                                            </p:cBhvr>
                                            <p:to>
                                              <p:strVal val="visible"/>
                                            </p:to>
                                          </p:set>
                                          <p:anim calcmode="lin" valueType="num">
                                            <p:cBhvr additive="base">
                                              <p:cTn id="13" dur="700" fill="hold"/>
                                              <p:tgtEl>
                                                <p:spTgt spid="9"/>
                                              </p:tgtEl>
                                              <p:attrNameLst>
                                                <p:attrName>ppt_y</p:attrName>
                                              </p:attrNameLst>
                                            </p:cBhvr>
                                            <p:tavLst>
                                              <p:tav tm="0">
                                                <p:val>
                                                  <p:strVal val="1+#ppt_h/2"/>
                                                </p:val>
                                              </p:tav>
                                              <p:tav tm="100000">
                                                <p:val>
                                                  <p:strVal val="#ppt_y"/>
                                                </p:val>
                                              </p:tav>
                                            </p:tavLst>
                                          </p:anim>
                                        </p:childTnLst>
                                      </p:cTn>
                                    </p:par>
                                  </p:childTnLst>
                                </p:cTn>
                              </p:par>
                              <p:par>
                                <p:cTn id="18" fill="hold">
                                  <p:stCondLst>
                                    <p:cond delay="510"/>
                                  </p:stCondLst>
                                  <p:childTnLst>
                                    <p:par>
                                      <p:cTn id="15" presetID="2" presetClass="entr" presetSubtype="4" fill="hold" grpId="0" nodeType="after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700" fill="hold"/>
                                              <p:tgtEl>
                                                <p:spTgt spid="10"/>
                                              </p:tgtEl>
                                              <p:attrNameLst>
                                                <p:attrName>ppt_y</p:attrName>
                                              </p:attrNameLst>
                                            </p:cBhvr>
                                            <p:tavLst>
                                              <p:tav tm="0">
                                                <p:val>
                                                  <p:strVal val="1+#ppt_h/2"/>
                                                </p:val>
                                              </p:tav>
                                              <p:tav tm="100000">
                                                <p:val>
                                                  <p:strVal val="#ppt_y"/>
                                                </p:val>
                                              </p:tav>
                                            </p:tavLst>
                                          </p:anim>
                                        </p:childTnLst>
                                      </p:cTn>
                                    </p:par>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Label"/>
          <p:cNvSpPr txBox="1"/>
          <p:nvPr/>
        </p:nvSpPr>
        <p:spPr>
          <a:xfrm>
            <a:off x="640080" y="411480"/>
            <a:ext cx="8229600" cy="365760"/>
          </a:xfrm>
          <a:prstGeom prst="rect">
            <a:avLst/>
          </a:prstGeom>
          <a:noFill/>
        </p:spPr>
        <p:txBody>
          <a:bodyPr wrap="square" anchor="t" lIns="0" rIns="0" tIns="0" bIns="0">
            <a:spAutoFit/>
          </a:bodyPr>
          <a:lstStyle/>
          <a:p>
            <a:pPr algn="l"/>
            <a:r>
              <a:rPr sz="1200" b="1">
                <a:solidFill>
                  <a:srgbClr val="E9B44C"/>
                </a:solidFill>
                <a:latin typeface="Calibri"/>
              </a:rPr>
              <a:t>08 · FAZIT</a:t>
            </a:r>
          </a:p>
        </p:txBody>
      </p:sp>
      <p:sp>
        <p:nvSpPr>
          <p:cNvPr id="3" name="Titel"/>
          <p:cNvSpPr txBox="1"/>
          <p:nvPr/>
        </p:nvSpPr>
        <p:spPr>
          <a:xfrm>
            <a:off x="640080" y="731520"/>
            <a:ext cx="10881360" cy="868680"/>
          </a:xfrm>
          <a:prstGeom prst="rect">
            <a:avLst/>
          </a:prstGeom>
          <a:noFill/>
        </p:spPr>
        <p:txBody>
          <a:bodyPr wrap="square" anchor="t" lIns="0" rIns="0" tIns="0" bIns="0">
            <a:spAutoFit/>
          </a:bodyPr>
          <a:lstStyle/>
          <a:p>
            <a:pPr algn="l"/>
            <a:r>
              <a:rPr sz="3600" b="1">
                <a:solidFill>
                  <a:srgbClr val="F5F7FA"/>
                </a:solidFill>
                <a:latin typeface="Calibri"/>
              </a:rPr>
              <a:t>Drei Gedanken zum Mitnehmen</a:t>
            </a:r>
          </a:p>
        </p:txBody>
      </p:sp>
      <p:sp>
        <p:nvSpPr>
          <p:cNvPr id="4" name="Linie"/>
          <p:cNvSpPr/>
          <p:nvPr/>
        </p:nvSpPr>
        <p:spPr>
          <a:xfrm>
            <a:off x="640080" y="1627632"/>
            <a:ext cx="1005840" cy="45720"/>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usszeile"/>
          <p:cNvSpPr txBox="1"/>
          <p:nvPr/>
        </p:nvSpPr>
        <p:spPr>
          <a:xfrm>
            <a:off x="640080" y="6355080"/>
            <a:ext cx="5486400" cy="274320"/>
          </a:xfrm>
          <a:prstGeom prst="rect">
            <a:avLst/>
          </a:prstGeom>
          <a:noFill/>
        </p:spPr>
        <p:txBody>
          <a:bodyPr wrap="square" anchor="t" lIns="0" rIns="0" tIns="0" bIns="0">
            <a:spAutoFit/>
          </a:bodyPr>
          <a:lstStyle/>
          <a:p>
            <a:pPr algn="l"/>
            <a:r>
              <a:rPr sz="1000" b="0">
                <a:solidFill>
                  <a:srgbClr val="9AA8BF"/>
                </a:solidFill>
                <a:latin typeface="Calibri"/>
              </a:rPr>
              <a:t>Montana · Präsentation</a:t>
            </a:r>
          </a:p>
        </p:txBody>
      </p:sp>
      <p:sp>
        <p:nvSpPr>
          <p:cNvPr id="6" name="Seitenzahl"/>
          <p:cNvSpPr txBox="1"/>
          <p:nvPr/>
        </p:nvSpPr>
        <p:spPr>
          <a:xfrm>
            <a:off x="10881360" y="6355080"/>
            <a:ext cx="685800" cy="274320"/>
          </a:xfrm>
          <a:prstGeom prst="rect">
            <a:avLst/>
          </a:prstGeom>
          <a:noFill/>
        </p:spPr>
        <p:txBody>
          <a:bodyPr wrap="square" anchor="t" lIns="0" rIns="0" tIns="0" bIns="0">
            <a:spAutoFit/>
          </a:bodyPr>
          <a:lstStyle/>
          <a:p>
            <a:pPr algn="r"/>
            <a:r>
              <a:rPr sz="1000" b="0">
                <a:solidFill>
                  <a:srgbClr val="9AA8BF"/>
                </a:solidFill>
                <a:latin typeface="Calibri"/>
              </a:rPr>
              <a:t>9</a:t>
            </a:r>
          </a:p>
        </p:txBody>
      </p:sp>
      <p:sp>
        <p:nvSpPr>
          <p:cNvPr id="7" name="Nummer1"/>
          <p:cNvSpPr/>
          <p:nvPr/>
        </p:nvSpPr>
        <p:spPr>
          <a:xfrm>
            <a:off x="640080" y="2011680"/>
            <a:ext cx="822960" cy="822960"/>
          </a:xfrm>
          <a:prstGeom prst="ellipse">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3000" b="1">
                <a:solidFill>
                  <a:srgbClr val="0B1120"/>
                </a:solidFill>
                <a:latin typeface="Calibri"/>
              </a:rPr>
              <a:t>1</a:t>
            </a:r>
          </a:p>
        </p:txBody>
      </p:sp>
      <p:sp>
        <p:nvSpPr>
          <p:cNvPr id="8" name="Punkt1"/>
          <p:cNvSpPr txBox="1"/>
          <p:nvPr/>
        </p:nvSpPr>
        <p:spPr>
          <a:xfrm>
            <a:off x="1737360" y="2011680"/>
            <a:ext cx="9784080" cy="822960"/>
          </a:xfrm>
          <a:prstGeom prst="rect">
            <a:avLst/>
          </a:prstGeom>
          <a:noFill/>
        </p:spPr>
        <p:txBody>
          <a:bodyPr wrap="square" anchor="ctr" lIns="0" rIns="0" tIns="0" bIns="0">
            <a:spAutoFit/>
          </a:bodyPr>
          <a:lstStyle/>
          <a:p>
            <a:pPr algn="l"/>
            <a:r>
              <a:rPr sz="2200" b="0">
                <a:solidFill>
                  <a:srgbClr val="F5F7FA"/>
                </a:solidFill>
                <a:latin typeface="Calibri"/>
              </a:rPr>
              <a:t>Montana ist riesig und dünn besiedelt. Weite prägt Leben und Wirtschaft.</a:t>
            </a:r>
          </a:p>
        </p:txBody>
      </p:sp>
      <p:sp>
        <p:nvSpPr>
          <p:cNvPr id="9" name="Nummer2"/>
          <p:cNvSpPr/>
          <p:nvPr/>
        </p:nvSpPr>
        <p:spPr>
          <a:xfrm>
            <a:off x="640080" y="3108960"/>
            <a:ext cx="822960" cy="822960"/>
          </a:xfrm>
          <a:prstGeom prst="ellipse">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3000" b="1">
                <a:solidFill>
                  <a:srgbClr val="0B1120"/>
                </a:solidFill>
                <a:latin typeface="Calibri"/>
              </a:rPr>
              <a:t>2</a:t>
            </a:r>
          </a:p>
        </p:txBody>
      </p:sp>
      <p:sp>
        <p:nvSpPr>
          <p:cNvPr id="10" name="Punkt2"/>
          <p:cNvSpPr txBox="1"/>
          <p:nvPr/>
        </p:nvSpPr>
        <p:spPr>
          <a:xfrm>
            <a:off x="1737360" y="3108960"/>
            <a:ext cx="9784080" cy="822960"/>
          </a:xfrm>
          <a:prstGeom prst="rect">
            <a:avLst/>
          </a:prstGeom>
          <a:noFill/>
        </p:spPr>
        <p:txBody>
          <a:bodyPr wrap="square" anchor="ctr" lIns="0" rIns="0" tIns="0" bIns="0">
            <a:spAutoFit/>
          </a:bodyPr>
          <a:lstStyle/>
          <a:p>
            <a:pPr algn="l"/>
            <a:r>
              <a:rPr sz="2200" b="0">
                <a:solidFill>
                  <a:srgbClr val="F5F7FA"/>
                </a:solidFill>
                <a:latin typeface="Calibri"/>
              </a:rPr>
              <a:t>Geschichte und Gegenwart hängen zusammen: Gold, Land und indigene Kultur.</a:t>
            </a:r>
          </a:p>
        </p:txBody>
      </p:sp>
      <p:sp>
        <p:nvSpPr>
          <p:cNvPr id="11" name="Nummer3"/>
          <p:cNvSpPr/>
          <p:nvPr/>
        </p:nvSpPr>
        <p:spPr>
          <a:xfrm>
            <a:off x="640080" y="4206240"/>
            <a:ext cx="822960" cy="822960"/>
          </a:xfrm>
          <a:prstGeom prst="ellipse">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3000" b="1">
                <a:solidFill>
                  <a:srgbClr val="0B1120"/>
                </a:solidFill>
                <a:latin typeface="Calibri"/>
              </a:rPr>
              <a:t>3</a:t>
            </a:r>
          </a:p>
        </p:txBody>
      </p:sp>
      <p:sp>
        <p:nvSpPr>
          <p:cNvPr id="12" name="Punkt3"/>
          <p:cNvSpPr txBox="1"/>
          <p:nvPr/>
        </p:nvSpPr>
        <p:spPr>
          <a:xfrm>
            <a:off x="1737360" y="4206240"/>
            <a:ext cx="9784080" cy="822960"/>
          </a:xfrm>
          <a:prstGeom prst="rect">
            <a:avLst/>
          </a:prstGeom>
          <a:noFill/>
        </p:spPr>
        <p:txBody>
          <a:bodyPr wrap="square" anchor="ctr" lIns="0" rIns="0" tIns="0" bIns="0">
            <a:spAutoFit/>
          </a:bodyPr>
          <a:lstStyle/>
          <a:p>
            <a:pPr algn="l"/>
            <a:r>
              <a:rPr sz="2200" b="0">
                <a:solidFill>
                  <a:srgbClr val="F5F7FA"/>
                </a:solidFill>
                <a:latin typeface="Calibri"/>
              </a:rPr>
              <a:t>Die Natur ist ein Schatz, und die schrumpfenden Gletscher zeigen, wie wichtig Schutz ist.</a:t>
            </a:r>
          </a:p>
        </p:txBody>
      </p:sp>
      <p:sp>
        <p:nvSpPr>
          <p:cNvPr id="13" name="Trennlinie"/>
          <p:cNvSpPr/>
          <p:nvPr/>
        </p:nvSpPr>
        <p:spPr>
          <a:xfrm>
            <a:off x="640080" y="5349240"/>
            <a:ext cx="10881360" cy="18288"/>
          </a:xfrm>
          <a:prstGeom prst="rect">
            <a:avLst/>
          </a:prstGeom>
          <a:solidFill>
            <a:srgbClr val="9AA8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Schlussatz"/>
          <p:cNvSpPr txBox="1"/>
          <p:nvPr/>
        </p:nvSpPr>
        <p:spPr>
          <a:xfrm>
            <a:off x="640080" y="5486400"/>
            <a:ext cx="10881360" cy="640080"/>
          </a:xfrm>
          <a:prstGeom prst="rect">
            <a:avLst/>
          </a:prstGeom>
          <a:noFill/>
        </p:spPr>
        <p:txBody>
          <a:bodyPr wrap="square" anchor="t" lIns="0" rIns="0" tIns="0" bIns="0">
            <a:spAutoFit/>
          </a:bodyPr>
          <a:lstStyle/>
          <a:p>
            <a:pPr algn="l"/>
            <a:r>
              <a:rPr sz="2200" b="1">
                <a:solidFill>
                  <a:srgbClr val="E9B44C"/>
                </a:solidFill>
                <a:latin typeface="Calibri"/>
              </a:rPr>
              <a:t>Big Sky Country: ein Schatz, den es zu bewahren gilt.</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1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2" fill="hold">
                            <p:stCondLst>
                              <p:cond delay="0"/>
                            </p:stCondLst>
                            <p:childTnLst>
                              <p:par>
                                <p:cTn id="6" fill="hold">
                                  <p:stCondLst>
                                    <p:cond delay="0"/>
                                  </p:stCondLst>
                                  <p:childTnLst>
                                    <p:par>
                                      <p:cTn id="3" presetID="2" presetClass="entr" presetSubtype="8" fill="hold" grpId="0" nodeType="afterEffect">
                                        <p:stCondLst>
                                          <p:cond delay="0"/>
                                        </p:stCondLst>
                                        <p:childTnLst>
                                          <p:set>
                                            <p:cBhvr>
                                              <p:cTn id="4" dur="1" fill="hold">
                                                <p:stCondLst>
                                                  <p:cond delay="0"/>
                                                </p:stCondLst>
                                              </p:cTn>
                                              <p:tgtEl>
                                                <p:spTgt spid="7"/>
                                              </p:tgtEl>
                                              <p:attrNameLst>
                                                <p:attrName>style.visibility</p:attrName>
                                              </p:attrNameLst>
                                            </p:cBhvr>
                                            <p:to>
                                              <p:strVal val="visible"/>
                                            </p:to>
                                          </p:set>
                                          <p:anim calcmode="lin" valueType="num">
                                            <p:cBhvr additive="base">
                                              <p:cTn id="5" dur="700" fill="hold"/>
                                              <p:tgtEl>
                                                <p:spTgt spid="7"/>
                                              </p:tgtEl>
                                              <p:attrNameLst>
                                                <p:attrName>ppt_x</p:attrName>
                                              </p:attrNameLst>
                                            </p:cBhvr>
                                            <p:tavLst>
                                              <p:tav tm="0">
                                                <p:val>
                                                  <p:strVal val="0-#ppt_w/2"/>
                                                </p:val>
                                              </p:tav>
                                              <p:tav tm="100000">
                                                <p:val>
                                                  <p:strVal val="#ppt_x"/>
                                                </p:val>
                                              </p:tav>
                                            </p:tavLst>
                                          </p:anim>
                                        </p:childTnLst>
                                      </p:cTn>
                                    </p:par>
                                  </p:childTnLst>
                                </p:cTn>
                              </p:par>
                              <p:par>
                                <p:cTn id="10" fill="hold">
                                  <p:stCondLst>
                                    <p:cond delay="170"/>
                                  </p:stCondLst>
                                  <p:childTnLst>
                                    <p:par>
                                      <p:cTn id="7" presetID="2" presetClass="entr" presetSubtype="4" fill="hold" grpId="0" nodeType="after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700" fill="hold"/>
                                              <p:tgtEl>
                                                <p:spTgt spid="8"/>
                                              </p:tgtEl>
                                              <p:attrNameLst>
                                                <p:attrName>ppt_y</p:attrName>
                                              </p:attrNameLst>
                                            </p:cBhvr>
                                            <p:tavLst>
                                              <p:tav tm="0">
                                                <p:val>
                                                  <p:strVal val="1+#ppt_h/2"/>
                                                </p:val>
                                              </p:tav>
                                              <p:tav tm="100000">
                                                <p:val>
                                                  <p:strVal val="#ppt_y"/>
                                                </p:val>
                                              </p:tav>
                                            </p:tavLst>
                                          </p:anim>
                                        </p:childTnLst>
                                      </p:cTn>
                                    </p:par>
                                  </p:childTnLst>
                                </p:cTn>
                              </p:par>
                              <p:par>
                                <p:cTn id="14" fill="hold">
                                  <p:stCondLst>
                                    <p:cond delay="340"/>
                                  </p:stCondLst>
                                  <p:childTnLst>
                                    <p:par>
                                      <p:cTn id="11" presetID="2" presetClass="entr" presetSubtype="4" fill="hold" grpId="0" nodeType="afterEffect">
                                        <p:stCondLst>
                                          <p:cond delay="0"/>
                                        </p:stCondLst>
                                        <p:childTnLst>
                                          <p:set>
                                            <p:cBhvr>
                                              <p:cTn id="12" dur="1" fill="hold">
                                                <p:stCondLst>
                                                  <p:cond delay="0"/>
                                                </p:stCondLst>
                                              </p:cTn>
                                              <p:tgtEl>
                                                <p:spTgt spid="9"/>
                                              </p:tgtEl>
                                              <p:attrNameLst>
                                                <p:attrName>style.visibility</p:attrName>
                                              </p:attrNameLst>
                                            </p:cBhvr>
                                            <p:to>
                                              <p:strVal val="visible"/>
                                            </p:to>
                                          </p:set>
                                          <p:anim calcmode="lin" valueType="num">
                                            <p:cBhvr additive="base">
                                              <p:cTn id="13" dur="700" fill="hold"/>
                                              <p:tgtEl>
                                                <p:spTgt spid="9"/>
                                              </p:tgtEl>
                                              <p:attrNameLst>
                                                <p:attrName>ppt_y</p:attrName>
                                              </p:attrNameLst>
                                            </p:cBhvr>
                                            <p:tavLst>
                                              <p:tav tm="0">
                                                <p:val>
                                                  <p:strVal val="1+#ppt_h/2"/>
                                                </p:val>
                                              </p:tav>
                                              <p:tav tm="100000">
                                                <p:val>
                                                  <p:strVal val="#ppt_y"/>
                                                </p:val>
                                              </p:tav>
                                            </p:tavLst>
                                          </p:anim>
                                        </p:childTnLst>
                                      </p:cTn>
                                    </p:par>
                                  </p:childTnLst>
                                </p:cTn>
                              </p:par>
                              <p:par>
                                <p:cTn id="18" fill="hold">
                                  <p:stCondLst>
                                    <p:cond delay="510"/>
                                  </p:stCondLst>
                                  <p:childTnLst>
                                    <p:par>
                                      <p:cTn id="15" presetID="2" presetClass="entr" presetSubtype="4" fill="hold" grpId="0" nodeType="after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700" fill="hold"/>
                                              <p:tgtEl>
                                                <p:spTgt spid="10"/>
                                              </p:tgtEl>
                                              <p:attrNameLst>
                                                <p:attrName>ppt_y</p:attrName>
                                              </p:attrNameLst>
                                            </p:cBhvr>
                                            <p:tavLst>
                                              <p:tav tm="0">
                                                <p:val>
                                                  <p:strVal val="1+#ppt_h/2"/>
                                                </p:val>
                                              </p:tav>
                                              <p:tav tm="100000">
                                                <p:val>
                                                  <p:strVal val="#ppt_y"/>
                                                </p:val>
                                              </p:tav>
                                            </p:tavLst>
                                          </p:anim>
                                        </p:childTnLst>
                                      </p:cTn>
                                    </p:par>
                                  </p:childTnLst>
                                </p:cTn>
                              </p:par>
                              <p:par>
                                <p:cTn id="22" fill="hold">
                                  <p:stCondLst>
                                    <p:cond delay="680"/>
                                  </p:stCondLst>
                                  <p:childTnLst>
                                    <p:par>
                                      <p:cTn id="19" presetID="2" presetClass="entr" presetSubtype="1" fill="hold" grpId="0" nodeType="afterEffect">
                                        <p:stCondLst>
                                          <p:cond delay="0"/>
                                        </p:stCondLst>
                                        <p:childTnLst>
                                          <p:set>
                                            <p:cBhvr>
                                              <p:cTn id="20" dur="1" fill="hold">
                                                <p:stCondLst>
                                                  <p:cond delay="0"/>
                                                </p:stCondLst>
                                              </p:cTn>
                                              <p:tgtEl>
                                                <p:spTgt spid="11"/>
                                              </p:tgtEl>
                                              <p:attrNameLst>
                                                <p:attrName>style.visibility</p:attrName>
                                              </p:attrNameLst>
                                            </p:cBhvr>
                                            <p:to>
                                              <p:strVal val="visible"/>
                                            </p:to>
                                          </p:set>
                                          <p:anim calcmode="lin" valueType="num">
                                            <p:cBhvr additive="base">
                                              <p:cTn id="21" dur="700" fill="hold"/>
                                              <p:tgtEl>
                                                <p:spTgt spid="11"/>
                                              </p:tgtEl>
                                              <p:attrNameLst>
                                                <p:attrName>ppt_y</p:attrName>
                                              </p:attrNameLst>
                                            </p:cBhvr>
                                            <p:tavLst>
                                              <p:tav tm="0">
                                                <p:val>
                                                  <p:strVal val="0-#ppt_h/2"/>
                                                </p:val>
                                              </p:tav>
                                              <p:tav tm="100000">
                                                <p:val>
                                                  <p:strVal val="#ppt_y"/>
                                                </p:val>
                                              </p:tav>
                                            </p:tavLst>
                                          </p:anim>
                                        </p:childTnLst>
                                      </p:cTn>
                                    </p:par>
                                  </p:childTnLst>
                                </p:cTn>
                              </p:par>
                              <p:par>
                                <p:cTn id="26" fill="hold">
                                  <p:stCondLst>
                                    <p:cond delay="850"/>
                                  </p:stCondLst>
                                  <p:childTnLst>
                                    <p:par>
                                      <p:cTn id="23" presetID="2" presetClass="entr" presetSubtype="4" fill="hold" grpId="0" nodeType="afterEffect">
                                        <p:stCondLst>
                                          <p:cond delay="0"/>
                                        </p:stCondLst>
                                        <p:childTnLst>
                                          <p:set>
                                            <p:cBhvr>
                                              <p:cTn id="24" dur="1" fill="hold">
                                                <p:stCondLst>
                                                  <p:cond delay="0"/>
                                                </p:stCondLst>
                                              </p:cTn>
                                              <p:tgtEl>
                                                <p:spTgt spid="12"/>
                                              </p:tgtEl>
                                              <p:attrNameLst>
                                                <p:attrName>style.visibility</p:attrName>
                                              </p:attrNameLst>
                                            </p:cBhvr>
                                            <p:to>
                                              <p:strVal val="visible"/>
                                            </p:to>
                                          </p:set>
                                          <p:anim calcmode="lin" valueType="num">
                                            <p:cBhvr additive="base">
                                              <p:cTn id="25" dur="700" fill="hold"/>
                                              <p:tgtEl>
                                                <p:spTgt spid="12"/>
                                              </p:tgtEl>
                                              <p:attrNameLst>
                                                <p:attrName>ppt_y</p:attrName>
                                              </p:attrNameLst>
                                            </p:cBhvr>
                                            <p:tavLst>
                                              <p:tav tm="0">
                                                <p:val>
                                                  <p:strVal val="1+#ppt_h/2"/>
                                                </p:val>
                                              </p:tav>
                                              <p:tav tm="100000">
                                                <p:val>
                                                  <p:strVal val="#ppt_y"/>
                                                </p:val>
                                              </p:tav>
                                            </p:tavLst>
                                          </p:anim>
                                        </p:childTnLst>
                                      </p:cTn>
                                    </p:par>
                                  </p:childTnLst>
                                </p:cTn>
                              </p:par>
                              <p:par>
                                <p:cTn id="30" fill="hold">
                                  <p:stCondLst>
                                    <p:cond delay="1020"/>
                                  </p:stCondLst>
                                  <p:childTnLst>
                                    <p:par>
                                      <p:cTn id="27" presetID="2" presetClass="entr" presetSubtype="4" fill="hold" grpId="0" nodeType="afterEffect">
                                        <p:stCondLst>
                                          <p:cond delay="0"/>
                                        </p:stCondLst>
                                        <p:childTnLst>
                                          <p:set>
                                            <p:cBhvr>
                                              <p:cTn id="28" dur="1" fill="hold">
                                                <p:stCondLst>
                                                  <p:cond delay="0"/>
                                                </p:stCondLst>
                                              </p:cTn>
                                              <p:tgtEl>
                                                <p:spTgt spid="14"/>
                                              </p:tgtEl>
                                              <p:attrNameLst>
                                                <p:attrName>style.visibility</p:attrName>
                                              </p:attrNameLst>
                                            </p:cBhvr>
                                            <p:to>
                                              <p:strVal val="visible"/>
                                            </p:to>
                                          </p:set>
                                          <p:anim calcmode="lin" valueType="num">
                                            <p:cBhvr additive="base">
                                              <p:cTn id="29" dur="700" fill="hold"/>
                                              <p:tgtEl>
                                                <p:spTgt spid="14"/>
                                              </p:tgtEl>
                                              <p:attrNameLst>
                                                <p:attrName>ppt_y</p:attrName>
                                              </p:attrNameLst>
                                            </p:cBhvr>
                                            <p:tavLst>
                                              <p:tav tm="0">
                                                <p:val>
                                                  <p:strVal val="1+#ppt_h/2"/>
                                                </p:val>
                                              </p:tav>
                                              <p:tav tm="100000">
                                                <p:val>
                                                  <p:strVal val="#ppt_y"/>
                                                </p:val>
                                              </p:tav>
                                            </p:tavLst>
                                          </p:anim>
                                        </p:childTnLst>
                                      </p:cTn>
                                    </p:par>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4"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Label"/>
          <p:cNvSpPr txBox="1"/>
          <p:nvPr/>
        </p:nvSpPr>
        <p:spPr>
          <a:xfrm>
            <a:off x="640080" y="411480"/>
            <a:ext cx="8229600" cy="365760"/>
          </a:xfrm>
          <a:prstGeom prst="rect">
            <a:avLst/>
          </a:prstGeom>
          <a:noFill/>
        </p:spPr>
        <p:txBody>
          <a:bodyPr wrap="square" anchor="t" lIns="0" rIns="0" tIns="0" bIns="0">
            <a:spAutoFit/>
          </a:bodyPr>
          <a:lstStyle/>
          <a:p>
            <a:pPr algn="l"/>
            <a:r>
              <a:rPr sz="1200" b="1">
                <a:solidFill>
                  <a:srgbClr val="E9B44C"/>
                </a:solidFill>
                <a:latin typeface="Calibri"/>
              </a:rPr>
              <a:t>09 · QUELLEN</a:t>
            </a:r>
          </a:p>
        </p:txBody>
      </p:sp>
      <p:sp>
        <p:nvSpPr>
          <p:cNvPr id="3" name="Titel"/>
          <p:cNvSpPr txBox="1"/>
          <p:nvPr/>
        </p:nvSpPr>
        <p:spPr>
          <a:xfrm>
            <a:off x="640080" y="731520"/>
            <a:ext cx="10881360" cy="868680"/>
          </a:xfrm>
          <a:prstGeom prst="rect">
            <a:avLst/>
          </a:prstGeom>
          <a:noFill/>
        </p:spPr>
        <p:txBody>
          <a:bodyPr wrap="square" anchor="t" lIns="0" rIns="0" tIns="0" bIns="0">
            <a:spAutoFit/>
          </a:bodyPr>
          <a:lstStyle/>
          <a:p>
            <a:pPr algn="l"/>
            <a:r>
              <a:rPr sz="3600" b="1">
                <a:solidFill>
                  <a:srgbClr val="F5F7FA"/>
                </a:solidFill>
                <a:latin typeface="Calibri"/>
              </a:rPr>
              <a:t>Quellen &amp; Bildnachweis</a:t>
            </a:r>
          </a:p>
        </p:txBody>
      </p:sp>
      <p:sp>
        <p:nvSpPr>
          <p:cNvPr id="4" name="Linie"/>
          <p:cNvSpPr/>
          <p:nvPr/>
        </p:nvSpPr>
        <p:spPr>
          <a:xfrm>
            <a:off x="640080" y="1627632"/>
            <a:ext cx="1005840" cy="45720"/>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usszeile"/>
          <p:cNvSpPr txBox="1"/>
          <p:nvPr/>
        </p:nvSpPr>
        <p:spPr>
          <a:xfrm>
            <a:off x="640080" y="6355080"/>
            <a:ext cx="5486400" cy="274320"/>
          </a:xfrm>
          <a:prstGeom prst="rect">
            <a:avLst/>
          </a:prstGeom>
          <a:noFill/>
        </p:spPr>
        <p:txBody>
          <a:bodyPr wrap="square" anchor="t" lIns="0" rIns="0" tIns="0" bIns="0">
            <a:spAutoFit/>
          </a:bodyPr>
          <a:lstStyle/>
          <a:p>
            <a:pPr algn="l"/>
            <a:r>
              <a:rPr sz="1000" b="0">
                <a:solidFill>
                  <a:srgbClr val="9AA8BF"/>
                </a:solidFill>
                <a:latin typeface="Calibri"/>
              </a:rPr>
              <a:t>Montana · Präsentation</a:t>
            </a:r>
          </a:p>
        </p:txBody>
      </p:sp>
      <p:sp>
        <p:nvSpPr>
          <p:cNvPr id="6" name="Seitenzahl"/>
          <p:cNvSpPr txBox="1"/>
          <p:nvPr/>
        </p:nvSpPr>
        <p:spPr>
          <a:xfrm>
            <a:off x="10881360" y="6355080"/>
            <a:ext cx="685800" cy="274320"/>
          </a:xfrm>
          <a:prstGeom prst="rect">
            <a:avLst/>
          </a:prstGeom>
          <a:noFill/>
        </p:spPr>
        <p:txBody>
          <a:bodyPr wrap="square" anchor="t" lIns="0" rIns="0" tIns="0" bIns="0">
            <a:spAutoFit/>
          </a:bodyPr>
          <a:lstStyle/>
          <a:p>
            <a:pPr algn="r"/>
            <a:r>
              <a:rPr sz="1000" b="0">
                <a:solidFill>
                  <a:srgbClr val="9AA8BF"/>
                </a:solidFill>
                <a:latin typeface="Calibri"/>
              </a:rPr>
              <a:t>10</a:t>
            </a:r>
          </a:p>
        </p:txBody>
      </p:sp>
      <p:sp>
        <p:nvSpPr>
          <p:cNvPr id="7" name="Quellen_Links"/>
          <p:cNvSpPr/>
          <p:nvPr/>
        </p:nvSpPr>
        <p:spPr>
          <a:xfrm>
            <a:off x="640080" y="2011680"/>
            <a:ext cx="5303520" cy="3291840"/>
          </a:xfrm>
          <a:prstGeom prst="roundRect">
            <a:avLst>
              <a:gd name="adj" fmla="val 8000"/>
            </a:avLst>
          </a:prstGeom>
          <a:solidFill>
            <a:srgbClr val="141E3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900"/>
              </a:spcAft>
            </a:pPr>
            <a:r>
              <a:rPr sz="1200" b="0">
                <a:solidFill>
                  <a:srgbClr val="F5F7FA"/>
                </a:solidFill>
                <a:latin typeface="Calibri"/>
              </a:rPr>
              <a:t>Wikipedia: Montana – en.wikipedia.org/wiki/Montana</a:t>
            </a:r>
          </a:p>
          <a:p>
            <a:pPr algn="l">
              <a:spcAft>
                <a:spcPts val="900"/>
              </a:spcAft>
            </a:pPr>
            <a:r>
              <a:rPr sz="1200" b="0">
                <a:solidFill>
                  <a:srgbClr val="F5F7FA"/>
                </a:solidFill>
                <a:latin typeface="Calibri"/>
              </a:rPr>
              <a:t>Wikipedia: History of Montana – en.wikipedia.org/wiki/History_of_Montana</a:t>
            </a:r>
          </a:p>
          <a:p>
            <a:pPr algn="l">
              <a:spcAft>
                <a:spcPts val="900"/>
              </a:spcAft>
            </a:pPr>
            <a:r>
              <a:rPr sz="1200" b="0">
                <a:solidFill>
                  <a:srgbClr val="F5F7FA"/>
                </a:solidFill>
                <a:latin typeface="Calibri"/>
              </a:rPr>
              <a:t>Wikipedia: Native Americans in Montana – en.wikipedia.org/wiki/Native_Americans_in_Montana</a:t>
            </a:r>
          </a:p>
          <a:p>
            <a:pPr algn="l">
              <a:spcAft>
                <a:spcPts val="900"/>
              </a:spcAft>
            </a:pPr>
            <a:r>
              <a:rPr sz="1200" b="0">
                <a:solidFill>
                  <a:srgbClr val="F5F7FA"/>
                </a:solidFill>
                <a:latin typeface="Calibri"/>
              </a:rPr>
              <a:t>Britannica: Montana – britannica.com/place/Montana-state</a:t>
            </a:r>
          </a:p>
          <a:p>
            <a:pPr algn="l">
              <a:spcAft>
                <a:spcPts val="900"/>
              </a:spcAft>
            </a:pPr>
            <a:r>
              <a:rPr sz="1200" b="0">
                <a:solidFill>
                  <a:srgbClr val="F5F7FA"/>
                </a:solidFill>
                <a:latin typeface="Calibri"/>
              </a:rPr>
              <a:t>History.com: Montana – history.com/articles/montana</a:t>
            </a:r>
          </a:p>
        </p:txBody>
      </p:sp>
      <p:sp>
        <p:nvSpPr>
          <p:cNvPr id="8" name="Quellen_Links2"/>
          <p:cNvSpPr/>
          <p:nvPr/>
        </p:nvSpPr>
        <p:spPr>
          <a:xfrm>
            <a:off x="6217920" y="2011680"/>
            <a:ext cx="5303520" cy="3291840"/>
          </a:xfrm>
          <a:prstGeom prst="roundRect">
            <a:avLst>
              <a:gd name="adj" fmla="val 8000"/>
            </a:avLst>
          </a:prstGeom>
          <a:solidFill>
            <a:srgbClr val="141E3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64592"/>
          <a:lstStyle/>
          <a:p>
            <a:pPr algn="l">
              <a:spcAft>
                <a:spcPts val="900"/>
              </a:spcAft>
            </a:pPr>
            <a:r>
              <a:rPr sz="1200" b="0">
                <a:solidFill>
                  <a:srgbClr val="F5F7FA"/>
                </a:solidFill>
                <a:latin typeface="Calibri"/>
              </a:rPr>
              <a:t>Glacier National Park – glacier-nationalpark.com/about</a:t>
            </a:r>
          </a:p>
          <a:p>
            <a:pPr algn="l">
              <a:spcAft>
                <a:spcPts val="900"/>
              </a:spcAft>
            </a:pPr>
            <a:r>
              <a:rPr sz="1200" b="0">
                <a:solidFill>
                  <a:srgbClr val="F5F7FA"/>
                </a:solidFill>
                <a:latin typeface="Calibri"/>
              </a:rPr>
              <a:t>Britannica Kids: Glacier National Park – kids.britannica.com/kids/article/Glacier-National-Park/489368</a:t>
            </a:r>
          </a:p>
          <a:p>
            <a:pPr algn="l">
              <a:spcAft>
                <a:spcPts val="900"/>
              </a:spcAft>
            </a:pPr>
            <a:r>
              <a:rPr sz="1200" b="0">
                <a:solidFill>
                  <a:srgbClr val="F5F7FA"/>
                </a:solidFill>
                <a:latin typeface="Calibri"/>
              </a:rPr>
              <a:t>Montana Dept. of Labor &amp; Industry (2023) – lmi.mt.gov</a:t>
            </a:r>
          </a:p>
          <a:p>
            <a:pPr algn="l">
              <a:spcAft>
                <a:spcPts val="900"/>
              </a:spcAft>
            </a:pPr>
            <a:r>
              <a:rPr sz="1200" b="0">
                <a:solidFill>
                  <a:srgbClr val="F5F7FA"/>
                </a:solidFill>
                <a:latin typeface="Calibri"/>
              </a:rPr>
              <a:t>Montana Beyond: Native American tribes – mtbeyond.com</a:t>
            </a:r>
          </a:p>
          <a:p>
            <a:pPr algn="l">
              <a:spcAft>
                <a:spcPts val="900"/>
              </a:spcAft>
            </a:pPr>
            <a:r>
              <a:rPr sz="1200" b="0">
                <a:solidFill>
                  <a:srgbClr val="F5F7FA"/>
                </a:solidFill>
                <a:latin typeface="Calibri"/>
              </a:rPr>
              <a:t>USGS Image Gallery – usgs.gov/media/images/agricultural-field-great-plains-region-montana</a:t>
            </a:r>
          </a:p>
        </p:txBody>
      </p:sp>
      <p:sp>
        <p:nvSpPr>
          <p:cNvPr id="9" name="Bildnachweis"/>
          <p:cNvSpPr txBox="1"/>
          <p:nvPr/>
        </p:nvSpPr>
        <p:spPr>
          <a:xfrm>
            <a:off x="640080" y="5486400"/>
            <a:ext cx="10881360" cy="731520"/>
          </a:xfrm>
          <a:prstGeom prst="rect">
            <a:avLst/>
          </a:prstGeom>
          <a:noFill/>
        </p:spPr>
        <p:txBody>
          <a:bodyPr wrap="square" anchor="t" lIns="0" rIns="0" tIns="0" bIns="0">
            <a:spAutoFit/>
          </a:bodyPr>
          <a:lstStyle/>
          <a:p>
            <a:pPr algn="l">
              <a:spcAft>
                <a:spcPts val="200"/>
              </a:spcAft>
            </a:pPr>
            <a:r>
              <a:rPr sz="1300" b="0">
                <a:solidFill>
                  <a:srgbClr val="9AA8BF"/>
                </a:solidFill>
                <a:latin typeface="Calibri"/>
              </a:rPr>
              <a:t>Bilder: Farmfoto USGS (gemeinfrei). Titel- und Naturbild KI-generiert mit Arena.ai.</a:t>
            </a:r>
          </a:p>
          <a:p>
            <a:pPr algn="l"/>
            <a:r>
              <a:rPr sz="1300" b="0">
                <a:solidFill>
                  <a:srgbClr val="9AA8BF"/>
                </a:solidFill>
                <a:latin typeface="Calibri"/>
              </a:rPr>
              <a:t>Erstellt mit Arena.ai Agent · Stand Oktober 2026</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1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15" fill="hold">
                      <p:stCondLst>
                        <p:cond delay="indefinite"/>
                        <p:cond evt="onBegin" delay="0">
                          <p:tn val="2"/>
                        </p:cond>
                      </p:stCondLst>
                      <p:childTnLst>
                        <p:par>
                          <p:cTn id="16" fill="hold">
                            <p:stCondLst>
                              <p:cond delay="0"/>
                            </p:stCondLst>
                            <p:childTnLst>
                              <p:par>
                                <p:cTn id="6" fill="hold">
                                  <p:stCondLst>
                                    <p:cond delay="0"/>
                                  </p:stCondLst>
                                  <p:childTnLst>
                                    <p:par>
                                      <p:cTn id="3" presetID="2" presetClass="entr" presetSubtype="8" fill="hold" grpId="0" nodeType="afterEffect">
                                        <p:stCondLst>
                                          <p:cond delay="0"/>
                                        </p:stCondLst>
                                        <p:childTnLst>
                                          <p:set>
                                            <p:cBhvr>
                                              <p:cTn id="4" dur="1" fill="hold">
                                                <p:stCondLst>
                                                  <p:cond delay="0"/>
                                                </p:stCondLst>
                                              </p:cTn>
                                              <p:tgtEl>
                                                <p:spTgt spid="7"/>
                                              </p:tgtEl>
                                              <p:attrNameLst>
                                                <p:attrName>style.visibility</p:attrName>
                                              </p:attrNameLst>
                                            </p:cBhvr>
                                            <p:to>
                                              <p:strVal val="visible"/>
                                            </p:to>
                                          </p:set>
                                          <p:anim calcmode="lin" valueType="num">
                                            <p:cBhvr additive="base">
                                              <p:cTn id="5" dur="700" fill="hold"/>
                                              <p:tgtEl>
                                                <p:spTgt spid="7"/>
                                              </p:tgtEl>
                                              <p:attrNameLst>
                                                <p:attrName>ppt_x</p:attrName>
                                              </p:attrNameLst>
                                            </p:cBhvr>
                                            <p:tavLst>
                                              <p:tav tm="0">
                                                <p:val>
                                                  <p:strVal val="0-#ppt_w/2"/>
                                                </p:val>
                                              </p:tav>
                                              <p:tav tm="100000">
                                                <p:val>
                                                  <p:strVal val="#ppt_x"/>
                                                </p:val>
                                              </p:tav>
                                            </p:tavLst>
                                          </p:anim>
                                        </p:childTnLst>
                                      </p:cTn>
                                    </p:par>
                                  </p:childTnLst>
                                </p:cTn>
                              </p:par>
                              <p:par>
                                <p:cTn id="10" fill="hold">
                                  <p:stCondLst>
                                    <p:cond delay="200"/>
                                  </p:stCondLst>
                                  <p:childTnLst>
                                    <p:par>
                                      <p:cTn id="7" presetID="2" presetClass="entr" presetSubtype="2" fill="hold" grpId="0" nodeType="after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700" fill="hold"/>
                                              <p:tgtEl>
                                                <p:spTgt spid="8"/>
                                              </p:tgtEl>
                                              <p:attrNameLst>
                                                <p:attrName>ppt_x</p:attrName>
                                              </p:attrNameLst>
                                            </p:cBhvr>
                                            <p:tavLst>
                                              <p:tav tm="0">
                                                <p:val>
                                                  <p:strVal val="1+#ppt_w/2"/>
                                                </p:val>
                                              </p:tav>
                                              <p:tav tm="100000">
                                                <p:val>
                                                  <p:strVal val="#ppt_x"/>
                                                </p:val>
                                              </p:tav>
                                            </p:tavLst>
                                          </p:anim>
                                        </p:childTnLst>
                                      </p:cTn>
                                    </p:par>
                                  </p:childTnLst>
                                </p:cTn>
                              </p:par>
                              <p:par>
                                <p:cTn id="14" fill="hold">
                                  <p:stCondLst>
                                    <p:cond delay="400"/>
                                  </p:stCondLst>
                                  <p:childTnLst>
                                    <p:par>
                                      <p:cTn id="11" presetID="2" presetClass="entr" presetSubtype="2" fill="hold" grpId="0" nodeType="afterEffect">
                                        <p:stCondLst>
                                          <p:cond delay="0"/>
                                        </p:stCondLst>
                                        <p:childTnLst>
                                          <p:set>
                                            <p:cBhvr>
                                              <p:cTn id="12" dur="1" fill="hold">
                                                <p:stCondLst>
                                                  <p:cond delay="0"/>
                                                </p:stCondLst>
                                              </p:cTn>
                                              <p:tgtEl>
                                                <p:spTgt spid="9"/>
                                              </p:tgtEl>
                                              <p:attrNameLst>
                                                <p:attrName>style.visibility</p:attrName>
                                              </p:attrNameLst>
                                            </p:cBhvr>
                                            <p:to>
                                              <p:strVal val="visible"/>
                                            </p:to>
                                          </p:set>
                                          <p:anim calcmode="lin" valueType="num">
                                            <p:cBhvr additive="base">
                                              <p:cTn id="13" dur="700" fill="hold"/>
                                              <p:tgtEl>
                                                <p:spTgt spid="9"/>
                                              </p:tgtEl>
                                              <p:attrNameLst>
                                                <p:attrName>ppt_x</p:attrName>
                                              </p:attrNameLst>
                                            </p:cBhvr>
                                            <p:tavLst>
                                              <p:tav tm="0">
                                                <p:val>
                                                  <p:strVal val="1+#ppt_w/2"/>
                                                </p:val>
                                              </p:tav>
                                              <p:tav tm="100000">
                                                <p:val>
                                                  <p:strVal val="#ppt_x"/>
                                                </p:val>
                                              </p:tav>
                                            </p:tavLst>
                                          </p:anim>
                                        </p:childTnLst>
                                      </p:cTn>
                                    </p:par>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120"/>
        </a:solidFill>
        <a:effectLst/>
      </p:bgPr>
    </p:bg>
    <p:spTree>
      <p:nvGrpSpPr>
        <p:cNvPr id="1" name=""/>
        <p:cNvGrpSpPr/>
        <p:nvPr/>
      </p:nvGrpSpPr>
      <p:grpSpPr/>
      <p:sp>
        <p:nvSpPr>
          <p:cNvPr id="2" name="Label"/>
          <p:cNvSpPr txBox="1"/>
          <p:nvPr/>
        </p:nvSpPr>
        <p:spPr>
          <a:xfrm>
            <a:off x="640080" y="411480"/>
            <a:ext cx="8229600" cy="365760"/>
          </a:xfrm>
          <a:prstGeom prst="rect">
            <a:avLst/>
          </a:prstGeom>
          <a:noFill/>
        </p:spPr>
        <p:txBody>
          <a:bodyPr wrap="square" anchor="t" lIns="0" rIns="0" tIns="0" bIns="0">
            <a:spAutoFit/>
          </a:bodyPr>
          <a:lstStyle/>
          <a:p>
            <a:pPr algn="l"/>
            <a:r>
              <a:rPr sz="1200" b="1">
                <a:solidFill>
                  <a:srgbClr val="E9B44C"/>
                </a:solidFill>
                <a:latin typeface="Calibri"/>
              </a:rPr>
              <a:t>10 · QUIZ</a:t>
            </a:r>
          </a:p>
        </p:txBody>
      </p:sp>
      <p:sp>
        <p:nvSpPr>
          <p:cNvPr id="3" name="Titel"/>
          <p:cNvSpPr txBox="1"/>
          <p:nvPr/>
        </p:nvSpPr>
        <p:spPr>
          <a:xfrm>
            <a:off x="640080" y="731520"/>
            <a:ext cx="10881360" cy="868680"/>
          </a:xfrm>
          <a:prstGeom prst="rect">
            <a:avLst/>
          </a:prstGeom>
          <a:noFill/>
        </p:spPr>
        <p:txBody>
          <a:bodyPr wrap="square" anchor="t" lIns="0" rIns="0" tIns="0" bIns="0">
            <a:spAutoFit/>
          </a:bodyPr>
          <a:lstStyle/>
          <a:p>
            <a:pPr algn="l"/>
            <a:r>
              <a:rPr sz="3600" b="1">
                <a:solidFill>
                  <a:srgbClr val="F5F7FA"/>
                </a:solidFill>
                <a:latin typeface="Calibri"/>
              </a:rPr>
              <a:t>Zeit für eure Fragen</a:t>
            </a:r>
          </a:p>
        </p:txBody>
      </p:sp>
      <p:sp>
        <p:nvSpPr>
          <p:cNvPr id="4" name="Linie"/>
          <p:cNvSpPr/>
          <p:nvPr/>
        </p:nvSpPr>
        <p:spPr>
          <a:xfrm>
            <a:off x="640080" y="1627632"/>
            <a:ext cx="1005840" cy="45720"/>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Fusszeile"/>
          <p:cNvSpPr txBox="1"/>
          <p:nvPr/>
        </p:nvSpPr>
        <p:spPr>
          <a:xfrm>
            <a:off x="640080" y="6355080"/>
            <a:ext cx="5486400" cy="274320"/>
          </a:xfrm>
          <a:prstGeom prst="rect">
            <a:avLst/>
          </a:prstGeom>
          <a:noFill/>
        </p:spPr>
        <p:txBody>
          <a:bodyPr wrap="square" anchor="t" lIns="0" rIns="0" tIns="0" bIns="0">
            <a:spAutoFit/>
          </a:bodyPr>
          <a:lstStyle/>
          <a:p>
            <a:pPr algn="l"/>
            <a:r>
              <a:rPr sz="1000" b="0">
                <a:solidFill>
                  <a:srgbClr val="9AA8BF"/>
                </a:solidFill>
                <a:latin typeface="Calibri"/>
              </a:rPr>
              <a:t>Montana · Präsentation</a:t>
            </a:r>
          </a:p>
        </p:txBody>
      </p:sp>
      <p:sp>
        <p:nvSpPr>
          <p:cNvPr id="6" name="Seitenzahl"/>
          <p:cNvSpPr txBox="1"/>
          <p:nvPr/>
        </p:nvSpPr>
        <p:spPr>
          <a:xfrm>
            <a:off x="10881360" y="6355080"/>
            <a:ext cx="685800" cy="274320"/>
          </a:xfrm>
          <a:prstGeom prst="rect">
            <a:avLst/>
          </a:prstGeom>
          <a:noFill/>
        </p:spPr>
        <p:txBody>
          <a:bodyPr wrap="square" anchor="t" lIns="0" rIns="0" tIns="0" bIns="0">
            <a:spAutoFit/>
          </a:bodyPr>
          <a:lstStyle/>
          <a:p>
            <a:pPr algn="r"/>
            <a:r>
              <a:rPr sz="1000" b="0">
                <a:solidFill>
                  <a:srgbClr val="9AA8BF"/>
                </a:solidFill>
                <a:latin typeface="Calibri"/>
              </a:rPr>
              <a:t>11</a:t>
            </a:r>
          </a:p>
        </p:txBody>
      </p:sp>
      <p:sp>
        <p:nvSpPr>
          <p:cNvPr id="7" name="Frage1"/>
          <p:cNvSpPr/>
          <p:nvPr/>
        </p:nvSpPr>
        <p:spPr>
          <a:xfrm>
            <a:off x="640080" y="1920240"/>
            <a:ext cx="6583680" cy="914400"/>
          </a:xfrm>
          <a:prstGeom prst="roundRect">
            <a:avLst>
              <a:gd name="adj" fmla="val 8000"/>
            </a:avLst>
          </a:prstGeom>
          <a:solidFill>
            <a:srgbClr val="141E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20700" bIns="120700"/>
          <a:lstStyle/>
          <a:p>
            <a:pPr algn="l">
              <a:spcAft>
                <a:spcPts val="200"/>
              </a:spcAft>
            </a:pPr>
            <a:r>
              <a:rPr sz="1100" b="1">
                <a:solidFill>
                  <a:srgbClr val="5EC4B6"/>
                </a:solidFill>
                <a:latin typeface="Calibri"/>
              </a:rPr>
              <a:t>FRAGE 1</a:t>
            </a:r>
          </a:p>
          <a:p>
            <a:pPr algn="l"/>
            <a:r>
              <a:rPr sz="1700" b="1">
                <a:solidFill>
                  <a:srgbClr val="F5F7FA"/>
                </a:solidFill>
                <a:latin typeface="Calibri"/>
              </a:rPr>
              <a:t>Wann wurde Montana der 41. US-Bundesstaat?</a:t>
            </a:r>
          </a:p>
        </p:txBody>
      </p:sp>
      <p:sp>
        <p:nvSpPr>
          <p:cNvPr id="8" name="Antwort1"/>
          <p:cNvSpPr/>
          <p:nvPr/>
        </p:nvSpPr>
        <p:spPr>
          <a:xfrm>
            <a:off x="7498079" y="1920240"/>
            <a:ext cx="4069080" cy="914400"/>
          </a:xfrm>
          <a:prstGeom prst="roundRect">
            <a:avLst>
              <a:gd name="adj" fmla="val 8000"/>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20700" bIns="120700"/>
          <a:lstStyle/>
          <a:p>
            <a:pPr algn="l">
              <a:spcAft>
                <a:spcPts val="200"/>
              </a:spcAft>
            </a:pPr>
            <a:r>
              <a:rPr sz="1100" b="1">
                <a:solidFill>
                  <a:srgbClr val="0B1120"/>
                </a:solidFill>
                <a:latin typeface="Calibri"/>
              </a:rPr>
              <a:t>Lösung</a:t>
            </a:r>
          </a:p>
          <a:p>
            <a:pPr algn="l"/>
            <a:r>
              <a:rPr sz="2000" b="1">
                <a:solidFill>
                  <a:srgbClr val="0B1120"/>
                </a:solidFill>
                <a:latin typeface="Calibri"/>
              </a:rPr>
              <a:t>8. November 1889</a:t>
            </a:r>
          </a:p>
        </p:txBody>
      </p:sp>
      <p:sp>
        <p:nvSpPr>
          <p:cNvPr id="9" name="Frage2"/>
          <p:cNvSpPr/>
          <p:nvPr/>
        </p:nvSpPr>
        <p:spPr>
          <a:xfrm>
            <a:off x="640080" y="2999232"/>
            <a:ext cx="6583680" cy="914400"/>
          </a:xfrm>
          <a:prstGeom prst="roundRect">
            <a:avLst>
              <a:gd name="adj" fmla="val 8000"/>
            </a:avLst>
          </a:prstGeom>
          <a:solidFill>
            <a:srgbClr val="141E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20700" bIns="120700"/>
          <a:lstStyle/>
          <a:p>
            <a:pPr algn="l">
              <a:spcAft>
                <a:spcPts val="200"/>
              </a:spcAft>
            </a:pPr>
            <a:r>
              <a:rPr sz="1100" b="1">
                <a:solidFill>
                  <a:srgbClr val="5EC4B6"/>
                </a:solidFill>
                <a:latin typeface="Calibri"/>
              </a:rPr>
              <a:t>FRAGE 2</a:t>
            </a:r>
          </a:p>
          <a:p>
            <a:pPr algn="l"/>
            <a:r>
              <a:rPr sz="1700" b="1">
                <a:solidFill>
                  <a:srgbClr val="F5F7FA"/>
                </a:solidFill>
                <a:latin typeface="Calibri"/>
              </a:rPr>
              <a:t>Wie heißt die Hauptstadt von Montana?</a:t>
            </a:r>
          </a:p>
        </p:txBody>
      </p:sp>
      <p:sp>
        <p:nvSpPr>
          <p:cNvPr id="10" name="Antwort2"/>
          <p:cNvSpPr/>
          <p:nvPr/>
        </p:nvSpPr>
        <p:spPr>
          <a:xfrm>
            <a:off x="7498079" y="2999232"/>
            <a:ext cx="4069080" cy="914400"/>
          </a:xfrm>
          <a:prstGeom prst="roundRect">
            <a:avLst>
              <a:gd name="adj" fmla="val 8000"/>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20700" bIns="120700"/>
          <a:lstStyle/>
          <a:p>
            <a:pPr algn="l">
              <a:spcAft>
                <a:spcPts val="200"/>
              </a:spcAft>
            </a:pPr>
            <a:r>
              <a:rPr sz="1100" b="1">
                <a:solidFill>
                  <a:srgbClr val="0B1120"/>
                </a:solidFill>
                <a:latin typeface="Calibri"/>
              </a:rPr>
              <a:t>Lösung</a:t>
            </a:r>
          </a:p>
          <a:p>
            <a:pPr algn="l"/>
            <a:r>
              <a:rPr sz="2000" b="1">
                <a:solidFill>
                  <a:srgbClr val="0B1120"/>
                </a:solidFill>
                <a:latin typeface="Calibri"/>
              </a:rPr>
              <a:t>Helena</a:t>
            </a:r>
          </a:p>
        </p:txBody>
      </p:sp>
      <p:sp>
        <p:nvSpPr>
          <p:cNvPr id="11" name="Frage3"/>
          <p:cNvSpPr/>
          <p:nvPr/>
        </p:nvSpPr>
        <p:spPr>
          <a:xfrm>
            <a:off x="640080" y="4078224"/>
            <a:ext cx="6583680" cy="914400"/>
          </a:xfrm>
          <a:prstGeom prst="roundRect">
            <a:avLst>
              <a:gd name="adj" fmla="val 8000"/>
            </a:avLst>
          </a:prstGeom>
          <a:solidFill>
            <a:srgbClr val="141E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20700" bIns="120700"/>
          <a:lstStyle/>
          <a:p>
            <a:pPr algn="l">
              <a:spcAft>
                <a:spcPts val="200"/>
              </a:spcAft>
            </a:pPr>
            <a:r>
              <a:rPr sz="1100" b="1">
                <a:solidFill>
                  <a:srgbClr val="5EC4B6"/>
                </a:solidFill>
                <a:latin typeface="Calibri"/>
              </a:rPr>
              <a:t>FRAGE 3</a:t>
            </a:r>
          </a:p>
          <a:p>
            <a:pPr algn="l"/>
            <a:r>
              <a:rPr sz="1700" b="1">
                <a:solidFill>
                  <a:srgbClr val="F5F7FA"/>
                </a:solidFill>
                <a:latin typeface="Calibri"/>
              </a:rPr>
              <a:t>Wie viele benannte Gletscher gibt es heute im Glacier National Park?</a:t>
            </a:r>
          </a:p>
        </p:txBody>
      </p:sp>
      <p:sp>
        <p:nvSpPr>
          <p:cNvPr id="12" name="Antwort3"/>
          <p:cNvSpPr/>
          <p:nvPr/>
        </p:nvSpPr>
        <p:spPr>
          <a:xfrm>
            <a:off x="7498079" y="4078224"/>
            <a:ext cx="4069080" cy="914400"/>
          </a:xfrm>
          <a:prstGeom prst="roundRect">
            <a:avLst>
              <a:gd name="adj" fmla="val 8000"/>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20700" bIns="120700"/>
          <a:lstStyle/>
          <a:p>
            <a:pPr algn="l">
              <a:spcAft>
                <a:spcPts val="200"/>
              </a:spcAft>
            </a:pPr>
            <a:r>
              <a:rPr sz="1100" b="1">
                <a:solidFill>
                  <a:srgbClr val="0B1120"/>
                </a:solidFill>
                <a:latin typeface="Calibri"/>
              </a:rPr>
              <a:t>Lösung</a:t>
            </a:r>
          </a:p>
          <a:p>
            <a:pPr algn="l"/>
            <a:r>
              <a:rPr sz="2000" b="1">
                <a:solidFill>
                  <a:srgbClr val="0B1120"/>
                </a:solidFill>
                <a:latin typeface="Calibri"/>
              </a:rPr>
              <a:t>26</a:t>
            </a:r>
          </a:p>
        </p:txBody>
      </p:sp>
      <p:sp>
        <p:nvSpPr>
          <p:cNvPr id="13" name="Frage4"/>
          <p:cNvSpPr/>
          <p:nvPr/>
        </p:nvSpPr>
        <p:spPr>
          <a:xfrm>
            <a:off x="640080" y="5157216"/>
            <a:ext cx="6583680" cy="914400"/>
          </a:xfrm>
          <a:prstGeom prst="roundRect">
            <a:avLst>
              <a:gd name="adj" fmla="val 8000"/>
            </a:avLst>
          </a:prstGeom>
          <a:solidFill>
            <a:srgbClr val="141E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20700" bIns="120700"/>
          <a:lstStyle/>
          <a:p>
            <a:pPr algn="l">
              <a:spcAft>
                <a:spcPts val="200"/>
              </a:spcAft>
            </a:pPr>
            <a:r>
              <a:rPr sz="1100" b="1">
                <a:solidFill>
                  <a:srgbClr val="5EC4B6"/>
                </a:solidFill>
                <a:latin typeface="Calibri"/>
              </a:rPr>
              <a:t>FRAGE 4</a:t>
            </a:r>
          </a:p>
          <a:p>
            <a:pPr algn="l"/>
            <a:r>
              <a:rPr sz="1700" b="1">
                <a:solidFill>
                  <a:srgbClr val="F5F7FA"/>
                </a:solidFill>
                <a:latin typeface="Calibri"/>
              </a:rPr>
              <a:t>Welchen Rang belegt Montana unter den US-Bundesstaaten nach Fläche?</a:t>
            </a:r>
          </a:p>
        </p:txBody>
      </p:sp>
      <p:sp>
        <p:nvSpPr>
          <p:cNvPr id="14" name="Antwort4"/>
          <p:cNvSpPr/>
          <p:nvPr/>
        </p:nvSpPr>
        <p:spPr>
          <a:xfrm>
            <a:off x="7498079" y="5157216"/>
            <a:ext cx="4069080" cy="914400"/>
          </a:xfrm>
          <a:prstGeom prst="roundRect">
            <a:avLst>
              <a:gd name="adj" fmla="val 8000"/>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20700" bIns="120700"/>
          <a:lstStyle/>
          <a:p>
            <a:pPr algn="l">
              <a:spcAft>
                <a:spcPts val="200"/>
              </a:spcAft>
            </a:pPr>
            <a:r>
              <a:rPr sz="1100" b="1">
                <a:solidFill>
                  <a:srgbClr val="0B1120"/>
                </a:solidFill>
                <a:latin typeface="Calibri"/>
              </a:rPr>
              <a:t>Lösung</a:t>
            </a:r>
          </a:p>
          <a:p>
            <a:pPr algn="l"/>
            <a:r>
              <a:rPr sz="2000" b="1">
                <a:solidFill>
                  <a:srgbClr val="0B1120"/>
                </a:solidFill>
                <a:latin typeface="Calibri"/>
              </a:rPr>
              <a:t>Platz 4</a:t>
            </a: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spd="slow" p14:dur="11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19" fill="hold">
                      <p:stCondLst>
                        <p:cond delay="indefinite"/>
                        <p:cond evt="onBegin" delay="0">
                          <p:tn val="2"/>
                        </p:cond>
                      </p:stCondLst>
                      <p:childTnLst>
                        <p:par>
                          <p:cTn id="20" fill="hold">
                            <p:stCondLst>
                              <p:cond delay="0"/>
                            </p:stCondLst>
                            <p:childTnLst>
                              <p:par>
                                <p:cTn id="6" fill="hold">
                                  <p:stCondLst>
                                    <p:cond delay="0"/>
                                  </p:stCondLst>
                                  <p:childTnLst>
                                    <p:par>
                                      <p:cTn id="3" presetID="2" presetClass="entr" presetSubtype="8" fill="hold" grpId="0" nodeType="afterEffect">
                                        <p:stCondLst>
                                          <p:cond delay="0"/>
                                        </p:stCondLst>
                                        <p:childTnLst>
                                          <p:set>
                                            <p:cBhvr>
                                              <p:cTn id="4" dur="1" fill="hold">
                                                <p:stCondLst>
                                                  <p:cond delay="0"/>
                                                </p:stCondLst>
                                              </p:cTn>
                                              <p:tgtEl>
                                                <p:spTgt spid="7"/>
                                              </p:tgtEl>
                                              <p:attrNameLst>
                                                <p:attrName>style.visibility</p:attrName>
                                              </p:attrNameLst>
                                            </p:cBhvr>
                                            <p:to>
                                              <p:strVal val="visible"/>
                                            </p:to>
                                          </p:set>
                                          <p:anim calcmode="lin" valueType="num">
                                            <p:cBhvr additive="base">
                                              <p:cTn id="5" dur="700" fill="hold"/>
                                              <p:tgtEl>
                                                <p:spTgt spid="7"/>
                                              </p:tgtEl>
                                              <p:attrNameLst>
                                                <p:attrName>ppt_x</p:attrName>
                                              </p:attrNameLst>
                                            </p:cBhvr>
                                            <p:tavLst>
                                              <p:tav tm="0">
                                                <p:val>
                                                  <p:strVal val="0-#ppt_w/2"/>
                                                </p:val>
                                              </p:tav>
                                              <p:tav tm="100000">
                                                <p:val>
                                                  <p:strVal val="#ppt_x"/>
                                                </p:val>
                                              </p:tav>
                                            </p:tavLst>
                                          </p:anim>
                                        </p:childTnLst>
                                      </p:cTn>
                                    </p:par>
                                  </p:childTnLst>
                                </p:cTn>
                              </p:par>
                              <p:par>
                                <p:cTn id="10" fill="hold">
                                  <p:stCondLst>
                                    <p:cond delay="150"/>
                                  </p:stCondLst>
                                  <p:childTnLst>
                                    <p:par>
                                      <p:cTn id="7" presetID="2" presetClass="entr" presetSubtype="8" fill="hold" grpId="0" nodeType="afterEffect">
                                        <p:stCondLst>
                                          <p:cond delay="0"/>
                                        </p:stCondLst>
                                        <p:childTnLst>
                                          <p:set>
                                            <p:cBhvr>
                                              <p:cTn id="8" dur="1" fill="hold">
                                                <p:stCondLst>
                                                  <p:cond delay="0"/>
                                                </p:stCondLst>
                                              </p:cTn>
                                              <p:tgtEl>
                                                <p:spTgt spid="9"/>
                                              </p:tgtEl>
                                              <p:attrNameLst>
                                                <p:attrName>style.visibility</p:attrName>
                                              </p:attrNameLst>
                                            </p:cBhvr>
                                            <p:to>
                                              <p:strVal val="visible"/>
                                            </p:to>
                                          </p:set>
                                          <p:anim calcmode="lin" valueType="num">
                                            <p:cBhvr additive="base">
                                              <p:cTn id="9" dur="700" fill="hold"/>
                                              <p:tgtEl>
                                                <p:spTgt spid="9"/>
                                              </p:tgtEl>
                                              <p:attrNameLst>
                                                <p:attrName>ppt_x</p:attrName>
                                              </p:attrNameLst>
                                            </p:cBhvr>
                                            <p:tavLst>
                                              <p:tav tm="0">
                                                <p:val>
                                                  <p:strVal val="0-#ppt_w/2"/>
                                                </p:val>
                                              </p:tav>
                                              <p:tav tm="100000">
                                                <p:val>
                                                  <p:strVal val="#ppt_x"/>
                                                </p:val>
                                              </p:tav>
                                            </p:tavLst>
                                          </p:anim>
                                        </p:childTnLst>
                                      </p:cTn>
                                    </p:par>
                                  </p:childTnLst>
                                </p:cTn>
                              </p:par>
                              <p:par>
                                <p:cTn id="14" fill="hold">
                                  <p:stCondLst>
                                    <p:cond delay="300"/>
                                  </p:stCondLst>
                                  <p:childTnLst>
                                    <p:par>
                                      <p:cTn id="11" presetID="2" presetClass="entr" presetSubtype="4" fill="hold" grpId="0" nodeType="afterEffect">
                                        <p:stCondLst>
                                          <p:cond delay="0"/>
                                        </p:stCondLst>
                                        <p:childTnLst>
                                          <p:set>
                                            <p:cBhvr>
                                              <p:cTn id="12" dur="1" fill="hold">
                                                <p:stCondLst>
                                                  <p:cond delay="0"/>
                                                </p:stCondLst>
                                              </p:cTn>
                                              <p:tgtEl>
                                                <p:spTgt spid="11"/>
                                              </p:tgtEl>
                                              <p:attrNameLst>
                                                <p:attrName>style.visibility</p:attrName>
                                              </p:attrNameLst>
                                            </p:cBhvr>
                                            <p:to>
                                              <p:strVal val="visible"/>
                                            </p:to>
                                          </p:set>
                                          <p:anim calcmode="lin" valueType="num">
                                            <p:cBhvr additive="base">
                                              <p:cTn id="13" dur="700" fill="hold"/>
                                              <p:tgtEl>
                                                <p:spTgt spid="11"/>
                                              </p:tgtEl>
                                              <p:attrNameLst>
                                                <p:attrName>ppt_y</p:attrName>
                                              </p:attrNameLst>
                                            </p:cBhvr>
                                            <p:tavLst>
                                              <p:tav tm="0">
                                                <p:val>
                                                  <p:strVal val="1+#ppt_h/2"/>
                                                </p:val>
                                              </p:tav>
                                              <p:tav tm="100000">
                                                <p:val>
                                                  <p:strVal val="#ppt_y"/>
                                                </p:val>
                                              </p:tav>
                                            </p:tavLst>
                                          </p:anim>
                                        </p:childTnLst>
                                      </p:cTn>
                                    </p:par>
                                  </p:childTnLst>
                                </p:cTn>
                              </p:par>
                              <p:par>
                                <p:cTn id="18" fill="hold">
                                  <p:stCondLst>
                                    <p:cond delay="450"/>
                                  </p:stCondLst>
                                  <p:childTnLst>
                                    <p:par>
                                      <p:cTn id="15" presetID="2" presetClass="entr" presetSubtype="4" fill="hold" grpId="0" nodeType="afterEffect">
                                        <p:stCondLst>
                                          <p:cond delay="0"/>
                                        </p:stCondLst>
                                        <p:childTnLst>
                                          <p:set>
                                            <p:cBhvr>
                                              <p:cTn id="16" dur="1" fill="hold">
                                                <p:stCondLst>
                                                  <p:cond delay="0"/>
                                                </p:stCondLst>
                                              </p:cTn>
                                              <p:tgtEl>
                                                <p:spTgt spid="13"/>
                                              </p:tgtEl>
                                              <p:attrNameLst>
                                                <p:attrName>style.visibility</p:attrName>
                                              </p:attrNameLst>
                                            </p:cBhvr>
                                            <p:to>
                                              <p:strVal val="visible"/>
                                            </p:to>
                                          </p:set>
                                          <p:anim calcmode="lin" valueType="num">
                                            <p:cBhvr additive="base">
                                              <p:cTn id="17" dur="700" fill="hold"/>
                                              <p:tgtEl>
                                                <p:spTgt spid="13"/>
                                              </p:tgtEl>
                                              <p:attrNameLst>
                                                <p:attrName>ppt_y</p:attrName>
                                              </p:attrNameLst>
                                            </p:cBhvr>
                                            <p:tavLst>
                                              <p:tav tm="0">
                                                <p:val>
                                                  <p:strVal val="1+#ppt_h/2"/>
                                                </p:val>
                                              </p:tav>
                                              <p:tav tm="100000">
                                                <p:val>
                                                  <p:strVal val="#ppt_y"/>
                                                </p:val>
                                              </p:tav>
                                            </p:tavLst>
                                          </p:anim>
                                        </p:childTnLst>
                                      </p:cTn>
                                    </p:par>
                                  </p:childTnLst>
                                </p:cTn>
                              </p:par>
                            </p:childTnLst>
                          </p:cTn>
                        </p:par>
                      </p:childTnLst>
                    </p:cTn>
                  </p:par>
                  <p:par>
                    <p:cTn id="24" fill="hold">
                      <p:stCondLst>
                        <p:cond delay="indefinite"/>
                      </p:stCondLst>
                      <p:childTnLst>
                        <p:par>
                          <p:cTn id="25" fill="hold">
                            <p:stCondLst>
                              <p:cond delay="0"/>
                            </p:stCondLst>
                            <p:childTnLst>
                              <p:par>
                                <p:cTn id="21" presetID="2" presetClass="entr" presetSubtype="2"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anim calcmode="lin" valueType="num">
                                      <p:cBhvr additive="base">
                                        <p:cTn id="23" dur="700" fill="hold"/>
                                        <p:tgtEl>
                                          <p:spTgt spid="8"/>
                                        </p:tgtEl>
                                        <p:attrNameLst>
                                          <p:attrName>ppt_x</p:attrName>
                                        </p:attrNameLst>
                                      </p:cBhvr>
                                      <p:tavLst>
                                        <p:tav tm="0">
                                          <p:val>
                                            <p:strVal val="1+#ppt_w/2"/>
                                          </p:val>
                                        </p:tav>
                                        <p:tav tm="100000">
                                          <p:val>
                                            <p:strVal val="#ppt_x"/>
                                          </p:val>
                                        </p:tav>
                                      </p:tavLst>
                                    </p:anim>
                                  </p:childTnLst>
                                </p:cTn>
                              </p:par>
                            </p:childTnLst>
                          </p:cTn>
                        </p:par>
                      </p:childTnLst>
                    </p:cTn>
                  </p:par>
                  <p:par>
                    <p:cTn id="29" fill="hold">
                      <p:stCondLst>
                        <p:cond delay="indefinite"/>
                      </p:stCondLst>
                      <p:childTnLst>
                        <p:par>
                          <p:cTn id="30" fill="hold">
                            <p:stCondLst>
                              <p:cond delay="0"/>
                            </p:stCondLst>
                            <p:childTnLst>
                              <p:par>
                                <p:cTn id="26" presetID="2" presetClass="entr" presetSubtype="8" fill="hold" grpId="0" nodeType="clickEffect">
                                  <p:stCondLst>
                                    <p:cond delay="0"/>
                                  </p:stCondLst>
                                  <p:childTnLst>
                                    <p:set>
                                      <p:cBhvr>
                                        <p:cTn id="27" dur="1" fill="hold">
                                          <p:stCondLst>
                                            <p:cond delay="0"/>
                                          </p:stCondLst>
                                        </p:cTn>
                                        <p:tgtEl>
                                          <p:spTgt spid="10"/>
                                        </p:tgtEl>
                                        <p:attrNameLst>
                                          <p:attrName>style.visibility</p:attrName>
                                        </p:attrNameLst>
                                      </p:cBhvr>
                                      <p:to>
                                        <p:strVal val="visible"/>
                                      </p:to>
                                    </p:set>
                                    <p:anim calcmode="lin" valueType="num">
                                      <p:cBhvr additive="base">
                                        <p:cTn id="28" dur="700" fill="hold"/>
                                        <p:tgtEl>
                                          <p:spTgt spid="10"/>
                                        </p:tgtEl>
                                        <p:attrNameLst>
                                          <p:attrName>ppt_x</p:attrName>
                                        </p:attrNameLst>
                                      </p:cBhvr>
                                      <p:tavLst>
                                        <p:tav tm="0">
                                          <p:val>
                                            <p:strVal val="0-#ppt_w/2"/>
                                          </p:val>
                                        </p:tav>
                                        <p:tav tm="100000">
                                          <p:val>
                                            <p:strVal val="#ppt_x"/>
                                          </p:val>
                                        </p:tav>
                                      </p:tavLst>
                                    </p:anim>
                                  </p:childTnLst>
                                </p:cTn>
                              </p:par>
                            </p:childTnLst>
                          </p:cTn>
                        </p:par>
                      </p:childTnLst>
                    </p:cTn>
                  </p:par>
                  <p:par>
                    <p:cTn id="34" fill="hold">
                      <p:stCondLst>
                        <p:cond delay="indefinite"/>
                      </p:stCondLst>
                      <p:childTnLst>
                        <p:par>
                          <p:cTn id="35" fill="hold">
                            <p:stCondLst>
                              <p:cond delay="0"/>
                            </p:stCondLst>
                            <p:childTnLst>
                              <p:par>
                                <p:cTn id="31" presetID="2" presetClass="entr" presetSubtype="2" fill="hold" grpId="0" nodeType="clickEffect">
                                  <p:stCondLst>
                                    <p:cond delay="0"/>
                                  </p:stCondLst>
                                  <p:childTnLst>
                                    <p:set>
                                      <p:cBhvr>
                                        <p:cTn id="32" dur="1" fill="hold">
                                          <p:stCondLst>
                                            <p:cond delay="0"/>
                                          </p:stCondLst>
                                        </p:cTn>
                                        <p:tgtEl>
                                          <p:spTgt spid="12"/>
                                        </p:tgtEl>
                                        <p:attrNameLst>
                                          <p:attrName>style.visibility</p:attrName>
                                        </p:attrNameLst>
                                      </p:cBhvr>
                                      <p:to>
                                        <p:strVal val="visible"/>
                                      </p:to>
                                    </p:set>
                                    <p:anim calcmode="lin" valueType="num">
                                      <p:cBhvr additive="base">
                                        <p:cTn id="33" dur="700" fill="hold"/>
                                        <p:tgtEl>
                                          <p:spTgt spid="12"/>
                                        </p:tgtEl>
                                        <p:attrNameLst>
                                          <p:attrName>ppt_x</p:attrName>
                                        </p:attrNameLst>
                                      </p:cBhvr>
                                      <p:tavLst>
                                        <p:tav tm="0">
                                          <p:val>
                                            <p:strVal val="1+#ppt_w/2"/>
                                          </p:val>
                                        </p:tav>
                                        <p:tav tm="100000">
                                          <p:val>
                                            <p:strVal val="#ppt_x"/>
                                          </p:val>
                                        </p:tav>
                                      </p:tavLst>
                                    </p:anim>
                                  </p:childTnLst>
                                </p:cTn>
                              </p:par>
                            </p:childTnLst>
                          </p:cTn>
                        </p:par>
                      </p:childTnLst>
                    </p:cTn>
                  </p:par>
                  <p:par>
                    <p:cTn id="39" fill="hold">
                      <p:stCondLst>
                        <p:cond delay="indefinite"/>
                      </p:stCondLst>
                      <p:childTnLst>
                        <p:par>
                          <p:cTn id="40" fill="hold">
                            <p:stCondLst>
                              <p:cond delay="0"/>
                            </p:stCondLst>
                            <p:childTnLst>
                              <p:par>
                                <p:cTn id="36" presetID="2" presetClass="entr" presetSubtype="8" fill="hold" grpId="0" nodeType="clickEffect">
                                  <p:stCondLst>
                                    <p:cond delay="0"/>
                                  </p:stCondLst>
                                  <p:childTnLst>
                                    <p:set>
                                      <p:cBhvr>
                                        <p:cTn id="37" dur="1" fill="hold">
                                          <p:stCondLst>
                                            <p:cond delay="0"/>
                                          </p:stCondLst>
                                        </p:cTn>
                                        <p:tgtEl>
                                          <p:spTgt spid="14"/>
                                        </p:tgtEl>
                                        <p:attrNameLst>
                                          <p:attrName>style.visibility</p:attrName>
                                        </p:attrNameLst>
                                      </p:cBhvr>
                                      <p:to>
                                        <p:strVal val="visible"/>
                                      </p:to>
                                    </p:set>
                                    <p:anim calcmode="lin" valueType="num">
                                      <p:cBhvr additive="base">
                                        <p:cTn id="38" dur="700" fill="hold"/>
                                        <p:tgtEl>
                                          <p:spTgt spid="14"/>
                                        </p:tgtEl>
                                        <p:attrNameLst>
                                          <p:attrName>ppt_x</p:attrName>
                                        </p:attrNameLst>
                                      </p:cBhvr>
                                      <p:tavLst>
                                        <p:tav tm="0">
                                          <p:val>
                                            <p:strVal val="0-#ppt_w/2"/>
                                          </p:val>
                                        </p:tav>
                                        <p:tav tm="100000">
                                          <p:val>
                                            <p:strVal val="#ppt_x"/>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9" grpId="0" animBg="1"/>
      <p:bldP spid="11" grpId="0" animBg="1"/>
      <p:bldP spid="13" grpId="0" animBg="1"/>
      <p:bldP spid="8" grpId="0" animBg="1"/>
      <p:bldP spid="10" grpId="0" animBg="1"/>
      <p:bldP spid="12" grpId="0" animBg="1"/>
      <p:bldP spid="14"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